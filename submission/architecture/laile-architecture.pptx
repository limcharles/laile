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verview" id="{ffb0ec62-3a9f-4014-a8e5-95bb0743b60f}">
          <p14:sldIdLst>
            <p14:sldId id="256"/>
          </p14:sldIdLst>
        </p14:section>
        <p14:section name="Architecture" id="{3474f35c-82f6-104d-d8e0-776ef4781521}">
          <p14:sldIdLst>
            <p14:sldId id="257"/>
            <p14:sldId id="258"/>
            <p14:sldId id="259"/>
            <p14:sldId id="260"/>
          </p14:sldIdLst>
        </p14:section>
        <p14:section name="Build" id="{a70f3625-a746-eae5-508d-d07077bbcd66}">
          <p14:sldIdLst>
            <p14:sldId id="261"/>
            <p14:sldId id="26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Laile is a home physiotherapy and calisthenics app with a clinician portal. Lele, its coach, is an agent on Tencent Cloud ADP.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Video stays on the device. Counts, angles and what the person says go to the Laile API on Lighthouse. The safety gate runs before any model. ADP drafts, chats and summarises; code decides.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Console screenshots, 15 Oct 2026. The ADP app is named Laile; the agent inside it is Lele.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model talks; code decides. Every number a physio sees comes from tested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three go to the same ADP agent; the server prefixes PLAN REQUEST or CLINICIAN BRIEF and the agent prompt has a section for each mode.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language for the domain logic; the phone and the server run the same LaileCore package.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choice trades something; these are the ones that shaped Laile.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chemeClr val="accent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2057400"/>
            <a:ext cx="7680960" cy="1188720"/>
          </a:xfrm>
          <a:prstGeom prst="rect">
            <a:avLst/>
          </a:prstGeom>
          <a:noFill/>
          <a:ln/>
        </p:spPr>
        <p:txBody>
          <a:bodyPr wrap="square" rtlCol="0"/>
          <a:lstStyle>
            <a:lvl1pPr algn="l" indent="0" marL="0">
              <a:buNone/>
              <a:defRPr lang="en-US" sz="4800" b="1" dirty="0">
                <a:solidFill>
                  <a:schemeClr val="bg1"/>
                </a:solidFill>
              </a:defRPr>
            </a:lvl1pPr>
          </a:lstStyle>
          <a:p>
            <a:pPr algn="l" indent="0" marL="0">
              <a:buNone/>
            </a:pPr>
            <a:endParaRPr lang="en-US" sz="4800" dirty="0"/>
          </a:p>
        </p:txBody>
      </p:sp>
      <p:sp>
        <p:nvSpPr>
          <p:cNvPr id="3" name="Text 0"/>
          <p:cNvSpPr/>
          <p:nvPr>
            <p:ph idx="101" type="body" hasCustomPrompt="1"/>
          </p:nvPr>
        </p:nvSpPr>
        <p:spPr>
          <a:xfrm>
            <a:off x="731520" y="3429000"/>
            <a:ext cx="7680960" cy="1097280"/>
          </a:xfrm>
          <a:prstGeom prst="rect">
            <a:avLst/>
          </a:prstGeom>
          <a:noFill/>
          <a:ln/>
        </p:spPr>
        <p:txBody>
          <a:bodyPr wrap="square" rtlCol="0"/>
          <a:lstStyle>
            <a:lvl1pPr indent="0" marL="0">
              <a:buNone/>
              <a:defRPr lang="en-US" sz="2000" dirty="0">
                <a:solidFill>
                  <a:schemeClr val="accent3"/>
                </a:solidFill>
              </a:defRPr>
            </a:lvl1pPr>
          </a:lstStyle>
          <a:p>
            <a:pPr indent="0" marL="0">
              <a:buNone/>
            </a:pPr>
            <a:endParaRPr lang="en-US" sz="2000" dirty="0"/>
          </a:p>
        </p:txBody>
      </p:sp>
      <p:sp>
        <p:nvSpPr>
          <p:cNvPr id="4" name="Text 0"/>
          <p:cNvSpPr/>
          <p:nvPr>
            <p:ph idx="102" type="body" hasCustomPrompt="1"/>
          </p:nvPr>
        </p:nvSpPr>
        <p:spPr>
          <a:xfrm>
            <a:off x="731520" y="5715000"/>
            <a:ext cx="10698480" cy="548640"/>
          </a:xfrm>
          <a:prstGeom prst="rect">
            <a:avLst/>
          </a:prstGeom>
          <a:noFill/>
          <a:ln/>
        </p:spPr>
        <p:txBody>
          <a:bodyPr wrap="square" rtlCol="0"/>
          <a:lstStyle>
            <a:lvl1pPr indent="0" marL="0">
              <a:buNone/>
              <a:defRPr lang="en-US" sz="1200" dirty="0">
                <a:solidFill>
                  <a:schemeClr val="accent3"/>
                </a:solidFill>
              </a:defRPr>
            </a:lvl1pPr>
          </a:lstStyle>
          <a:p>
            <a:pPr indent="0" marL="0">
              <a:buNone/>
            </a:pPr>
            <a:endParaRPr lang="en-US" sz="1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rtlCol="0"/>
          <a:lstStyle>
            <a:lvl1pPr algn="l" indent="0" marL="0">
              <a:buNone/>
              <a:defRPr lang="en-US" sz="3200" b="1" dirty="0">
                <a:solidFill>
                  <a:schemeClr val="tx1"/>
                </a:solidFill>
              </a:defRPr>
            </a:lvl1pPr>
          </a:lstStyle>
          <a:p>
            <a:pPr algn="l" indent="0" marL="0">
              <a:buNone/>
            </a:pPr>
            <a:endParaRPr lang="en-US" sz="3200" dirty="0"/>
          </a:p>
        </p:txBody>
      </p:sp>
      <p:sp>
        <p:nvSpPr>
          <p:cNvPr id="3" name="Text 0"/>
          <p:cNvSpPr/>
          <p:nvPr/>
        </p:nvSpPr>
        <p:spPr>
          <a:xfrm>
            <a:off x="548640" y="6400800"/>
            <a:ext cx="8229600" cy="274320"/>
          </a:xfrm>
          <a:prstGeom prst="rect">
            <a:avLst/>
          </a:prstGeom>
          <a:noFill/>
          <a:ln/>
        </p:spPr>
        <p:txBody>
          <a:bodyPr wrap="square" lIns="0" tIns="0" rIns="0" bIns="0" rtlCol="0" anchor="ctr"/>
          <a:lstStyle/>
          <a:p>
            <a:pPr indent="0" marL="0">
              <a:buNone/>
            </a:pPr>
            <a:r>
              <a:rPr lang="en-US" sz="1000" dirty="0">
                <a:solidFill>
                  <a:schemeClr val="accent4"/>
                </a:solidFill>
              </a:rPr>
              <a:t>Laile  ·  Tencent Cloud AI CAN DO IT Hackathon Singapore 2026</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3.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g"/><Relationship Id="rId2" Type="http://schemas.openxmlformats.org/officeDocument/2006/relationships/image" Target="../media/image-3-2.jpg"/><Relationship Id="rId3" Type="http://schemas.openxmlformats.org/officeDocument/2006/relationships/image" Target="../media/image-3-3.jpg"/><Relationship Id="rId4" Type="http://schemas.openxmlformats.org/officeDocument/2006/relationships/image" Target="../media/image-3-4.jpg"/><Relationship Id="rId5" Type="http://schemas.openxmlformats.org/officeDocument/2006/relationships/slideLayout" Target="../slideLayouts/slideLayout3.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2057400"/>
            <a:ext cx="7680960" cy="1188720"/>
          </a:xfrm>
          <a:prstGeom prst="rect">
            <a:avLst/>
          </a:prstGeom>
          <a:noFill/>
          <a:ln/>
        </p:spPr>
        <p:txBody>
          <a:bodyPr wrap="square" lIns="0" tIns="0" rIns="0" bIns="0" rtlCol="0" anchor="b"/>
          <a:lstStyle/>
          <a:p>
            <a:pPr algn="l" indent="0" marL="0">
              <a:buNone/>
            </a:pPr>
            <a:r>
              <a:rPr lang="en-US" sz="4800" b="1" dirty="0">
                <a:solidFill>
                  <a:schemeClr val="bg1"/>
                </a:solidFill>
              </a:rPr>
              <a:t>Laile architecture</a:t>
            </a:r>
            <a:endParaRPr lang="en-US" sz="4800" dirty="0"/>
          </a:p>
        </p:txBody>
      </p:sp>
      <p:sp>
        <p:nvSpPr>
          <p:cNvPr id="3" name="Text 0"/>
          <p:cNvSpPr/>
          <p:nvPr>
            <p:ph idx="101" type="body" hasCustomPrompt="1"/>
          </p:nvPr>
        </p:nvSpPr>
        <p:spPr>
          <a:xfrm>
            <a:off x="731520" y="3429000"/>
            <a:ext cx="7680960" cy="1097280"/>
          </a:xfrm>
          <a:prstGeom prst="rect">
            <a:avLst/>
          </a:prstGeom>
          <a:noFill/>
          <a:ln/>
        </p:spPr>
        <p:txBody>
          <a:bodyPr wrap="square" lIns="0" tIns="0" rIns="0" bIns="0" rtlCol="0" anchor="t"/>
          <a:lstStyle/>
          <a:p>
            <a:pPr indent="0" marL="0">
              <a:buNone/>
            </a:pPr>
            <a:r>
              <a:rPr lang="en-US" sz="2000" dirty="0">
                <a:solidFill>
                  <a:schemeClr val="accent3"/>
                </a:solidFill>
              </a:rPr>
              <a:t>Home physio that counts every rep and checks in. How it is built, where the trust boundary sits, and why.</a:t>
            </a:r>
            <a:endParaRPr lang="en-US" sz="2000" dirty="0"/>
          </a:p>
        </p:txBody>
      </p:sp>
      <p:sp>
        <p:nvSpPr>
          <p:cNvPr id="4" name="Text 0"/>
          <p:cNvSpPr/>
          <p:nvPr>
            <p:ph idx="102" type="body" hasCustomPrompt="1"/>
          </p:nvPr>
        </p:nvSpPr>
        <p:spPr>
          <a:xfrm>
            <a:off x="731520" y="5715000"/>
            <a:ext cx="10698480" cy="548640"/>
          </a:xfrm>
          <a:prstGeom prst="rect">
            <a:avLst/>
          </a:prstGeom>
          <a:noFill/>
          <a:ln/>
        </p:spPr>
        <p:txBody>
          <a:bodyPr wrap="square" lIns="0" tIns="0" rIns="0" bIns="0" rtlCol="0" anchor="b"/>
          <a:lstStyle/>
          <a:p>
            <a:pPr indent="0" marL="0">
              <a:buNone/>
            </a:pPr>
            <a:r>
              <a:rPr lang="en-US" sz="1200" dirty="0">
                <a:solidFill>
                  <a:schemeClr val="accent3"/>
                </a:solidFill>
              </a:rPr>
              <a:t>github.com/LimCharles/laile   ·   43-156-108-79.sslip.io   ·   Charles Andrew Lim, Healthcare track, Challenge Statement 2</a:t>
            </a:r>
            <a:endParaRPr lang="en-US" sz="1200" dirty="0"/>
          </a:p>
        </p:txBody>
      </p:sp>
      <p:pic>
        <p:nvPicPr>
          <p:cNvPr id="5" name="App icon" descr="Laile app icon: the 乐 mark">    </p:cNvPr>
          <p:cNvPicPr>
            <a:picLocks noChangeAspect="1"/>
          </p:cNvPicPr>
          <p:nvPr/>
        </p:nvPicPr>
        <p:blipFill>
          <a:blip r:embed="rId1"/>
          <a:stretch>
            <a:fillRect/>
          </a:stretch>
        </p:blipFill>
        <p:spPr>
          <a:xfrm>
            <a:off x="9006840" y="1691640"/>
            <a:ext cx="2514600" cy="25146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lIns="0" tIns="0" rIns="0" bIns="0" rtlCol="0" anchor="ctr"/>
          <a:lstStyle/>
          <a:p>
            <a:pPr algn="l" indent="0" marL="0">
              <a:buNone/>
            </a:pPr>
            <a:r>
              <a:rPr lang="en-US" sz="3200" b="1" dirty="0">
                <a:solidFill>
                  <a:schemeClr val="tx1"/>
                </a:solidFill>
              </a:rPr>
              <a:t>Architecture and trust boundary</a:t>
            </a:r>
            <a:endParaRPr lang="en-US" sz="3200" dirty="0"/>
          </a:p>
        </p:txBody>
      </p:sp>
      <p:pic>
        <p:nvPicPr>
          <p:cNvPr id="3" name="Architecture diagram" descr="Patient phone or browser, Laile API on Tencent Cloud, models on ADP and ElevenLabs, and the clinician portal">    </p:cNvPr>
          <p:cNvPicPr>
            <a:picLocks noChangeAspect="1"/>
          </p:cNvPicPr>
          <p:nvPr/>
        </p:nvPicPr>
        <p:blipFill>
          <a:blip r:embed="rId1"/>
          <a:stretch>
            <a:fillRect/>
          </a:stretch>
        </p:blipFill>
        <p:spPr>
          <a:xfrm>
            <a:off x="700888" y="1188720"/>
            <a:ext cx="10789920" cy="5059604"/>
          </a:xfrm>
          <a:prstGeom prst="rect">
            <a:avLst/>
          </a:prstGeom>
        </p:spPr>
      </p:pic>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lIns="0" tIns="0" rIns="0" bIns="0" rtlCol="0" anchor="ctr"/>
          <a:lstStyle/>
          <a:p>
            <a:pPr algn="l" indent="0" marL="0">
              <a:buNone/>
            </a:pPr>
            <a:r>
              <a:rPr lang="en-US" sz="3200" b="1" dirty="0">
                <a:solidFill>
                  <a:schemeClr val="tx1"/>
                </a:solidFill>
              </a:rPr>
              <a:t>Running on Tencent Cloud</a:t>
            </a:r>
            <a:endParaRPr lang="en-US" sz="3200" dirty="0"/>
          </a:p>
        </p:txBody>
      </p:sp>
      <p:pic>
        <p:nvPicPr>
          <p:cNvPr id="3" name="ADP settings" descr="Lele's ADP settings: models, role prompt and welcome message">    </p:cNvPr>
          <p:cNvPicPr>
            <a:picLocks noChangeAspect="1"/>
          </p:cNvPicPr>
          <p:nvPr/>
        </p:nvPicPr>
        <p:blipFill>
          <a:blip r:embed="rId1"/>
          <a:stretch>
            <a:fillRect/>
          </a:stretch>
        </p:blipFill>
        <p:spPr>
          <a:xfrm>
            <a:off x="548640" y="1234440"/>
            <a:ext cx="2560320" cy="4449660"/>
          </a:xfrm>
          <a:prstGeom prst="rect">
            <a:avLst/>
          </a:prstGeom>
        </p:spPr>
      </p:pic>
      <p:sp>
        <p:nvSpPr>
          <p:cNvPr id="4" name="Text 1"/>
          <p:cNvSpPr txBox="1"/>
          <p:nvPr/>
        </p:nvSpPr>
        <p:spPr>
          <a:xfrm>
            <a:off x="548640" y="5760720"/>
            <a:ext cx="2743200" cy="274320"/>
          </a:xfrm>
          <a:prstGeom prst="rect">
            <a:avLst/>
          </a:prstGeom>
          <a:noFill/>
          <a:ln/>
        </p:spPr>
        <p:txBody>
          <a:bodyPr wrap="square" lIns="0" tIns="0" rIns="0" bIns="0" rtlCol="0" anchor="ctr"/>
          <a:lstStyle/>
          <a:p>
            <a:pPr indent="0" marL="0">
              <a:buNone/>
            </a:pPr>
            <a:r>
              <a:rPr lang="en-US" sz="1100" dirty="0">
                <a:solidFill>
                  <a:schemeClr val="accent4"/>
                </a:solidFill>
              </a:rPr>
              <a:t>ADP: Lele on Tencent Hy3, role prompt, welcome</a:t>
            </a:r>
            <a:endParaRPr lang="en-US" sz="1100" dirty="0"/>
          </a:p>
        </p:txBody>
      </p:sp>
      <p:pic>
        <p:nvPicPr>
          <p:cNvPr id="5" name="ADP knowledge base" descr="ADP knowledge base: the 12 Laile documents, older versions switched off">    </p:cNvPr>
          <p:cNvPicPr>
            <a:picLocks noChangeAspect="1"/>
          </p:cNvPicPr>
          <p:nvPr/>
        </p:nvPicPr>
        <p:blipFill>
          <a:blip r:embed="rId2"/>
          <a:stretch>
            <a:fillRect/>
          </a:stretch>
        </p:blipFill>
        <p:spPr>
          <a:xfrm>
            <a:off x="3429000" y="1234440"/>
            <a:ext cx="4846320" cy="2362581"/>
          </a:xfrm>
          <a:prstGeom prst="rect">
            <a:avLst/>
          </a:prstGeom>
        </p:spPr>
      </p:pic>
      <p:sp>
        <p:nvSpPr>
          <p:cNvPr id="6" name="Text 2"/>
          <p:cNvSpPr txBox="1"/>
          <p:nvPr/>
        </p:nvSpPr>
        <p:spPr>
          <a:xfrm>
            <a:off x="3429000" y="3670173"/>
            <a:ext cx="4846320" cy="274320"/>
          </a:xfrm>
          <a:prstGeom prst="rect">
            <a:avLst/>
          </a:prstGeom>
          <a:noFill/>
          <a:ln/>
        </p:spPr>
        <p:txBody>
          <a:bodyPr wrap="square" lIns="0" tIns="0" rIns="0" bIns="0" rtlCol="0" anchor="ctr"/>
          <a:lstStyle/>
          <a:p>
            <a:pPr indent="0" marL="0">
              <a:buNone/>
            </a:pPr>
            <a:r>
              <a:rPr lang="en-US" sz="1100" dirty="0">
                <a:solidFill>
                  <a:schemeClr val="accent4"/>
                </a:solidFill>
              </a:rPr>
              <a:t>ADP knowledge base: 12 active documents in two categories</a:t>
            </a:r>
            <a:endParaRPr lang="en-US" sz="1100" dirty="0"/>
          </a:p>
        </p:txBody>
      </p:sp>
      <p:pic>
        <p:nvPicPr>
          <p:cNvPr id="7" name="Lighthouse server" descr="Lighthouse: the laile server in Singapore, running">    </p:cNvPr>
          <p:cNvPicPr>
            <a:picLocks noChangeAspect="1"/>
          </p:cNvPicPr>
          <p:nvPr/>
        </p:nvPicPr>
        <p:blipFill>
          <a:blip r:embed="rId3"/>
          <a:stretch>
            <a:fillRect/>
          </a:stretch>
        </p:blipFill>
        <p:spPr>
          <a:xfrm>
            <a:off x="8549640" y="1234440"/>
            <a:ext cx="3063240" cy="1980543"/>
          </a:xfrm>
          <a:prstGeom prst="rect">
            <a:avLst/>
          </a:prstGeom>
        </p:spPr>
      </p:pic>
      <p:sp>
        <p:nvSpPr>
          <p:cNvPr id="8" name="Text 3"/>
          <p:cNvSpPr txBox="1"/>
          <p:nvPr/>
        </p:nvSpPr>
        <p:spPr>
          <a:xfrm>
            <a:off x="8549640" y="3288135"/>
            <a:ext cx="3063240" cy="274320"/>
          </a:xfrm>
          <a:prstGeom prst="rect">
            <a:avLst/>
          </a:prstGeom>
          <a:noFill/>
          <a:ln/>
        </p:spPr>
        <p:txBody>
          <a:bodyPr wrap="square" lIns="0" tIns="0" rIns="0" bIns="0" rtlCol="0" anchor="ctr"/>
          <a:lstStyle/>
          <a:p>
            <a:pPr indent="0" marL="0">
              <a:buNone/>
            </a:pPr>
            <a:r>
              <a:rPr lang="en-US" sz="1100" dirty="0">
                <a:solidFill>
                  <a:schemeClr val="accent4"/>
                </a:solidFill>
              </a:rPr>
              <a:t>Lighthouse: the Laile server, Singapore</a:t>
            </a:r>
            <a:endParaRPr lang="en-US" sz="1100" dirty="0"/>
          </a:p>
        </p:txBody>
      </p:sp>
      <p:sp>
        <p:nvSpPr>
          <p:cNvPr id="9" name="Text 4"/>
          <p:cNvSpPr txBox="1"/>
          <p:nvPr/>
        </p:nvSpPr>
        <p:spPr>
          <a:xfrm>
            <a:off x="8549640" y="4160520"/>
            <a:ext cx="3063240" cy="822960"/>
          </a:xfrm>
          <a:prstGeom prst="rect">
            <a:avLst/>
          </a:prstGeom>
          <a:noFill/>
          <a:ln/>
        </p:spPr>
        <p:txBody>
          <a:bodyPr wrap="square" lIns="0" tIns="0" rIns="0" bIns="0" rtlCol="0" anchor="t"/>
          <a:lstStyle/>
          <a:p>
            <a:pPr indent="0" marL="0">
              <a:buNone/>
            </a:pPr>
            <a:r>
              <a:rPr lang="en-US" sz="1300" b="1" dirty="0">
                <a:solidFill>
                  <a:schemeClr val="accent1"/>
                </a:solidFill>
              </a:rPr>
              <a:t>Try Lele directly on ADP</a:t>
            </a:r>
            <a:endParaRPr lang="en-US" sz="1300" dirty="0"/>
          </a:p>
          <a:p>
            <a:pPr indent="0" marL="0">
              <a:buNone/>
            </a:pPr>
            <a:r>
              <a:rPr lang="en-US" sz="1300" dirty="0">
                <a:solidFill>
                  <a:schemeClr val="tx1"/>
                </a:solidFill>
              </a:rPr>
              <a:t>adp.tencentcloud.com/webim_exp/#/chat/nZbZZz</a:t>
            </a:r>
            <a:endParaRPr lang="en-US" sz="1300" dirty="0"/>
          </a:p>
        </p:txBody>
      </p:sp>
      <p:pic>
        <p:nvPicPr>
          <p:cNvPr id="10" name="ADP publish history" descr="ADP publish history: three published versions of Lele">    </p:cNvPr>
          <p:cNvPicPr>
            <a:picLocks noChangeAspect="1"/>
          </p:cNvPicPr>
          <p:nvPr/>
        </p:nvPicPr>
        <p:blipFill>
          <a:blip r:embed="rId4"/>
          <a:stretch>
            <a:fillRect/>
          </a:stretch>
        </p:blipFill>
        <p:spPr>
          <a:xfrm>
            <a:off x="3429000" y="4160520"/>
            <a:ext cx="4846320" cy="1296391"/>
          </a:xfrm>
          <a:prstGeom prst="rect">
            <a:avLst/>
          </a:prstGeom>
        </p:spPr>
      </p:pic>
      <p:sp>
        <p:nvSpPr>
          <p:cNvPr id="11" name="Text 5"/>
          <p:cNvSpPr txBox="1"/>
          <p:nvPr/>
        </p:nvSpPr>
        <p:spPr>
          <a:xfrm>
            <a:off x="3429000" y="5530063"/>
            <a:ext cx="4846320" cy="274320"/>
          </a:xfrm>
          <a:prstGeom prst="rect">
            <a:avLst/>
          </a:prstGeom>
          <a:noFill/>
          <a:ln/>
        </p:spPr>
        <p:txBody>
          <a:bodyPr wrap="square" lIns="0" tIns="0" rIns="0" bIns="0" rtlCol="0" anchor="ctr"/>
          <a:lstStyle/>
          <a:p>
            <a:pPr indent="0" marL="0">
              <a:buNone/>
            </a:pPr>
            <a:r>
              <a:rPr lang="en-US" sz="1100" dirty="0">
                <a:solidFill>
                  <a:schemeClr val="accent4"/>
                </a:solidFill>
              </a:rPr>
              <a:t>ADP publish history: three published versions, latest 12 Oct</a:t>
            </a:r>
            <a:endParaRPr lang="en-US" sz="11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lIns="0" tIns="0" rIns="0" bIns="0" rtlCol="0" anchor="ctr"/>
          <a:lstStyle/>
          <a:p>
            <a:pPr algn="l" indent="0" marL="0">
              <a:buNone/>
            </a:pPr>
            <a:r>
              <a:rPr lang="en-US" sz="3200" b="1" dirty="0">
                <a:solidFill>
                  <a:schemeClr val="tx1"/>
                </a:solidFill>
              </a:rPr>
              <a:t>How the AI is used, and kept safe</a:t>
            </a:r>
            <a:endParaRPr lang="en-US" sz="3200" dirty="0"/>
          </a:p>
        </p:txBody>
      </p:sp>
      <p:graphicFrame>
        <p:nvGraphicFramePr>
          <p:cNvPr id="5" name="AI and safety table"/>
          <p:cNvGraphicFramePr>
            <a:graphicFrameLocks noGrp="1"/>
          </p:cNvGraphicFramePr>
          <p:nvPr>
            <p:extLst>
              <p:ext uri="{D42A27DB-BD31-4B8C-83A1-F6EECF244321}">
                <p14:modId xmlns:p14="http://schemas.microsoft.com/office/powerpoint/2010/main" val="1579011935"/>
              </p:ext>
            </p:extLst>
          </p:nvPr>
        </p:nvGraphicFramePr>
        <p:xfrm>
          <a:off x="548640" y="1234440"/>
          <a:ext cx="11064240" cy="914400"/>
        </p:xfrm>
        <a:graphic>
          <a:graphicData uri="http://schemas.openxmlformats.org/drawingml/2006/table">
            <a:tbl>
              <a:tblPr/>
              <a:tblGrid>
                <a:gridCol w="2651760"/>
                <a:gridCol w="3566160"/>
                <a:gridCol w="4846320"/>
              </a:tblGrid>
              <a:tr h="566928">
                <a:tc>
                  <a:txBody>
                    <a:bodyPr/>
                    <a:lstStyle/>
                    <a:p>
                      <a:pPr indent="0" marL="0">
                        <a:buNone/>
                      </a:pPr>
                      <a:r>
                        <a:rPr lang="en-US" sz="1400" b="1" dirty="0">
                          <a:solidFill>
                            <a:schemeClr val="bg1"/>
                          </a:solidFill>
                        </a:rPr>
                        <a:t>Job</a:t>
                      </a:r>
                      <a:endParaRPr lang="en-US" sz="1400" dirty="0"/>
                    </a:p>
                  </a:txBody>
                  <a:tcPr marL="101600" marR="101600" marT="50800" marB="50800" anchor="ctr">
                    <a:lnL w="9525" cap="flat" cmpd="sng" algn="ctr">
                      <a:solidFill>
                        <a:srgbClr val="E1E7E3"/>
                      </a:solidFill>
                      <a:prstDash val="solid"/>
                      <a:round/>
                      <a:headEnd type="none" w="med" len="med"/>
                      <a:tailEnd type="none" w="med" len="med"/>
                    </a:lnL>
                    <a:lnR w="9525" cap="flat" cmpd="sng" algn="ctr">
                      <a:solidFill>
                        <a:srgbClr val="E1E7E3"/>
                      </a:solidFill>
                      <a:prstDash val="solid"/>
                      <a:round/>
                      <a:headEnd type="none" w="med" len="med"/>
                      <a:tailEnd type="none" w="med" len="med"/>
                    </a:lnR>
                    <a:lnT w="9525" cap="flat" cmpd="sng" algn="ctr">
                      <a:solidFill>
                        <a:srgbClr val="E1E7E3"/>
                      </a:solidFill>
                      <a:prstDash val="solid"/>
                      <a:round/>
                      <a:headEnd type="none" w="med" len="med"/>
                      <a:tailEnd type="none" w="med" len="med"/>
                    </a:lnT>
                    <a:lnB w="9525" cap="flat" cmpd="sng" algn="ctr">
                      <a:solidFill>
                        <a:srgbClr val="E1E7E3"/>
                      </a:solidFill>
                      <a:prstDash val="solid"/>
                      <a:round/>
                      <a:headEnd type="none" w="med" len="med"/>
                      <a:tailEnd type="none" w="med" len="med"/>
                    </a:lnB>
                    <a:solidFill>
                      <a:schemeClr val="accent1"/>
                    </a:solidFill>
                  </a:tcPr>
                </a:tc>
                <a:tc>
                  <a:txBody>
                    <a:bodyPr/>
                    <a:lstStyle/>
                    <a:p>
                      <a:pPr indent="0" marL="0">
                        <a:buNone/>
                      </a:pPr>
                      <a:r>
                        <a:rPr lang="en-US" sz="1400" b="1" dirty="0">
                          <a:solidFill>
                            <a:schemeClr val="bg1"/>
                          </a:solidFill>
                        </a:rPr>
                        <a:t>Done by</a:t>
                      </a:r>
                      <a:endParaRPr lang="en-US" sz="1400" dirty="0"/>
                    </a:p>
                  </a:txBody>
                  <a:tcPr marL="101600" marR="101600" marT="50800" marB="50800" anchor="ctr">
                    <a:lnL w="9525" cap="flat" cmpd="sng" algn="ctr">
                      <a:solidFill>
                        <a:srgbClr val="E1E7E3"/>
                      </a:solidFill>
                      <a:prstDash val="solid"/>
                      <a:round/>
                      <a:headEnd type="none" w="med" len="med"/>
                      <a:tailEnd type="none" w="med" len="med"/>
                    </a:lnL>
                    <a:lnR w="9525" cap="flat" cmpd="sng" algn="ctr">
                      <a:solidFill>
                        <a:srgbClr val="E1E7E3"/>
                      </a:solidFill>
                      <a:prstDash val="solid"/>
                      <a:round/>
                      <a:headEnd type="none" w="med" len="med"/>
                      <a:tailEnd type="none" w="med" len="med"/>
                    </a:lnR>
                    <a:lnT w="9525" cap="flat" cmpd="sng" algn="ctr">
                      <a:solidFill>
                        <a:srgbClr val="E1E7E3"/>
                      </a:solidFill>
                      <a:prstDash val="solid"/>
                      <a:round/>
                      <a:headEnd type="none" w="med" len="med"/>
                      <a:tailEnd type="none" w="med" len="med"/>
                    </a:lnT>
                    <a:lnB w="9525" cap="flat" cmpd="sng" algn="ctr">
                      <a:solidFill>
                        <a:srgbClr val="E1E7E3"/>
                      </a:solidFill>
                      <a:prstDash val="solid"/>
                      <a:round/>
                      <a:headEnd type="none" w="med" len="med"/>
                      <a:tailEnd type="none" w="med" len="med"/>
                    </a:lnB>
                    <a:solidFill>
                      <a:schemeClr val="accent1"/>
                    </a:solidFill>
                  </a:tcPr>
                </a:tc>
                <a:tc>
                  <a:txBody>
                    <a:bodyPr/>
                    <a:lstStyle/>
                    <a:p>
                      <a:pPr indent="0" marL="0">
                        <a:buNone/>
                      </a:pPr>
                      <a:r>
                        <a:rPr lang="en-US" sz="1400" b="1" dirty="0">
                          <a:solidFill>
                            <a:schemeClr val="bg1"/>
                          </a:solidFill>
                        </a:rPr>
                        <a:t>Kept safe by</a:t>
                      </a:r>
                      <a:endParaRPr lang="en-US" sz="1400" dirty="0"/>
                    </a:p>
                  </a:txBody>
                  <a:tcPr marL="101600" marR="101600" marT="50800" marB="50800" anchor="ctr">
                    <a:lnL w="9525" cap="flat" cmpd="sng" algn="ctr">
                      <a:solidFill>
                        <a:srgbClr val="E1E7E3"/>
                      </a:solidFill>
                      <a:prstDash val="solid"/>
                      <a:round/>
                      <a:headEnd type="none" w="med" len="med"/>
                      <a:tailEnd type="none" w="med" len="med"/>
                    </a:lnL>
                    <a:lnR w="9525" cap="flat" cmpd="sng" algn="ctr">
                      <a:solidFill>
                        <a:srgbClr val="E1E7E3"/>
                      </a:solidFill>
                      <a:prstDash val="solid"/>
                      <a:round/>
                      <a:headEnd type="none" w="med" len="med"/>
                      <a:tailEnd type="none" w="med" len="med"/>
                    </a:lnR>
                    <a:lnT w="9525" cap="flat" cmpd="sng" algn="ctr">
                      <a:solidFill>
                        <a:srgbClr val="E1E7E3"/>
                      </a:solidFill>
                      <a:prstDash val="solid"/>
                      <a:round/>
                      <a:headEnd type="none" w="med" len="med"/>
                      <a:tailEnd type="none" w="med" len="med"/>
                    </a:lnT>
                    <a:lnB w="9525" cap="flat" cmpd="sng" algn="ctr">
                      <a:solidFill>
                        <a:srgbClr val="E1E7E3"/>
                      </a:solidFill>
                      <a:prstDash val="solid"/>
                      <a:round/>
                      <a:headEnd type="none" w="med" len="med"/>
                      <a:tailEnd type="none" w="med" len="med"/>
                    </a:lnB>
                    <a:solidFill>
                      <a:schemeClr val="accent1"/>
                    </a:solidFill>
                  </a:tcPr>
                </a:tc>
              </a:tr>
              <a:tr h="566928">
                <a:tc>
                  <a:txBody>
                    <a:bodyPr/>
                    <a:lstStyle/>
                    <a:p>
                      <a:pPr indent="0" marL="0">
                        <a:buNone/>
                      </a:pPr>
                      <a:r>
                        <a:rPr lang="en-US" sz="1300" b="1" dirty="0">
                          <a:solidFill>
                            <a:schemeClr val="tx1"/>
                          </a:solidFill>
                        </a:rPr>
                        <a:t>Conversation and explanations</a:t>
                      </a:r>
                      <a:endParaRPr lang="en-US" sz="1300" dirty="0"/>
                    </a:p>
                  </a:txBody>
                  <a:tcPr marL="101600" marR="101600" marT="50800" marB="50800" anchor="ctr">
                    <a:lnL w="9525" cap="flat" cmpd="sng" algn="ctr">
                      <a:solidFill>
                        <a:srgbClr val="E1E7E3"/>
                      </a:solidFill>
                      <a:prstDash val="solid"/>
                      <a:round/>
                      <a:headEnd type="none" w="med" len="med"/>
                      <a:tailEnd type="none" w="med" len="med"/>
                    </a:lnL>
                    <a:lnR w="9525" cap="flat" cmpd="sng" algn="ctr">
                      <a:solidFill>
                        <a:srgbClr val="E1E7E3"/>
                      </a:solidFill>
                      <a:prstDash val="solid"/>
                      <a:round/>
                      <a:headEnd type="none" w="med" len="med"/>
                      <a:tailEnd type="none" w="med" len="med"/>
                    </a:lnR>
                    <a:lnT w="9525" cap="flat" cmpd="sng" algn="ctr">
                      <a:solidFill>
                        <a:srgbClr val="E1E7E3"/>
                      </a:solidFill>
                      <a:prstDash val="solid"/>
                      <a:round/>
                      <a:headEnd type="none" w="med" len="med"/>
                      <a:tailEnd type="none" w="med" len="med"/>
                    </a:lnT>
                    <a:lnB w="9525" cap="flat" cmpd="sng" algn="ctr">
                      <a:solidFill>
                        <a:srgbClr val="E1E7E3"/>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Lele on Tencent Cloud ADP (Hy3, 12-document knowledge base)</a:t>
                      </a:r>
                      <a:endParaRPr lang="en-US" sz="1300" dirty="0"/>
                    </a:p>
                  </a:txBody>
                  <a:tcPr marL="101600" marR="101600" marT="50800" marB="50800" anchor="ctr">
                    <a:lnL w="9525" cap="flat" cmpd="sng" algn="ctr">
                      <a:solidFill>
                        <a:srgbClr val="E1E7E3"/>
                      </a:solidFill>
                      <a:prstDash val="solid"/>
                      <a:round/>
                      <a:headEnd type="none" w="med" len="med"/>
                      <a:tailEnd type="none" w="med" len="med"/>
                    </a:lnL>
                    <a:lnR w="9525" cap="flat" cmpd="sng" algn="ctr">
                      <a:solidFill>
                        <a:srgbClr val="E1E7E3"/>
                      </a:solidFill>
                      <a:prstDash val="solid"/>
                      <a:round/>
                      <a:headEnd type="none" w="med" len="med"/>
                      <a:tailEnd type="none" w="med" len="med"/>
                    </a:lnR>
                    <a:lnT w="9525" cap="flat" cmpd="sng" algn="ctr">
                      <a:solidFill>
                        <a:srgbClr val="E1E7E3"/>
                      </a:solidFill>
                      <a:prstDash val="solid"/>
                      <a:round/>
                      <a:headEnd type="none" w="med" len="med"/>
                      <a:tailEnd type="none" w="med" len="med"/>
                    </a:lnT>
                    <a:lnB w="9525" cap="flat" cmpd="sng" algn="ctr">
                      <a:solidFill>
                        <a:srgbClr val="E1E7E3"/>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Real numbers sent with every message; red flags and dose questions answered by rules first</a:t>
                      </a:r>
                      <a:endParaRPr lang="en-US" sz="1300" dirty="0"/>
                    </a:p>
                  </a:txBody>
                  <a:tcPr marL="101600" marR="101600" marT="50800" marB="50800" anchor="ctr">
                    <a:lnL w="9525" cap="flat" cmpd="sng" algn="ctr">
                      <a:solidFill>
                        <a:srgbClr val="E1E7E3"/>
                      </a:solidFill>
                      <a:prstDash val="solid"/>
                      <a:round/>
                      <a:headEnd type="none" w="med" len="med"/>
                      <a:tailEnd type="none" w="med" len="med"/>
                    </a:lnL>
                    <a:lnR w="9525" cap="flat" cmpd="sng" algn="ctr">
                      <a:solidFill>
                        <a:srgbClr val="E1E7E3"/>
                      </a:solidFill>
                      <a:prstDash val="solid"/>
                      <a:round/>
                      <a:headEnd type="none" w="med" len="med"/>
                      <a:tailEnd type="none" w="med" len="med"/>
                    </a:lnR>
                    <a:lnT w="9525" cap="flat" cmpd="sng" algn="ctr">
                      <a:solidFill>
                        <a:srgbClr val="E1E7E3"/>
                      </a:solidFill>
                      <a:prstDash val="solid"/>
                      <a:round/>
                      <a:headEnd type="none" w="med" len="med"/>
                      <a:tailEnd type="none" w="med" len="med"/>
                    </a:lnT>
                    <a:lnB w="9525" cap="flat" cmpd="sng" algn="ctr">
                      <a:solidFill>
                        <a:srgbClr val="E1E7E3"/>
                      </a:solidFill>
                      <a:prstDash val="solid"/>
                      <a:round/>
                      <a:headEnd type="none" w="med" len="med"/>
                      <a:tailEnd type="none" w="med" len="med"/>
                    </a:lnB>
                    <a:solidFill>
                      <a:schemeClr val="bg2"/>
                    </a:solidFill>
                  </a:tcPr>
                </a:tc>
              </a:tr>
              <a:tr h="566928">
                <a:tc>
                  <a:txBody>
                    <a:bodyPr/>
                    <a:lstStyle/>
                    <a:p>
                      <a:pPr indent="0" marL="0">
                        <a:buNone/>
                      </a:pPr>
                      <a:r>
                        <a:rPr lang="en-US" sz="1300" b="1" dirty="0">
                          <a:solidFill>
                            <a:schemeClr val="tx1"/>
                          </a:solidFill>
                        </a:rPr>
                        <a:t>Program drafts and revisions</a:t>
                      </a:r>
                      <a:endParaRPr lang="en-US" sz="1300" dirty="0"/>
                    </a:p>
                  </a:txBody>
                  <a:tcPr marL="101600" marR="101600" marT="50800" marB="50800" anchor="ctr">
                    <a:lnL w="9525" cap="flat" cmpd="sng" algn="ctr">
                      <a:solidFill>
                        <a:srgbClr val="E1E7E3"/>
                      </a:solidFill>
                      <a:prstDash val="solid"/>
                      <a:round/>
                      <a:headEnd type="none" w="med" len="med"/>
                      <a:tailEnd type="none" w="med" len="med"/>
                    </a:lnL>
                    <a:lnR w="9525" cap="flat" cmpd="sng" algn="ctr">
                      <a:solidFill>
                        <a:srgbClr val="E1E7E3"/>
                      </a:solidFill>
                      <a:prstDash val="solid"/>
                      <a:round/>
                      <a:headEnd type="none" w="med" len="med"/>
                      <a:tailEnd type="none" w="med" len="med"/>
                    </a:lnR>
                    <a:lnT w="9525" cap="flat" cmpd="sng" algn="ctr">
                      <a:solidFill>
                        <a:srgbClr val="E1E7E3"/>
                      </a:solidFill>
                      <a:prstDash val="solid"/>
                      <a:round/>
                      <a:headEnd type="none" w="med" len="med"/>
                      <a:tailEnd type="none" w="med" len="med"/>
                    </a:lnT>
                    <a:lnB w="9525" cap="flat" cmpd="sng" algn="ctr">
                      <a:solidFill>
                        <a:srgbClr val="E1E7E3"/>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Lele on ADP, PLAN REQUEST mode</a:t>
                      </a:r>
                      <a:endParaRPr lang="en-US" sz="1300" dirty="0"/>
                    </a:p>
                  </a:txBody>
                  <a:tcPr marL="101600" marR="101600" marT="50800" marB="50800" anchor="ctr">
                    <a:lnL w="9525" cap="flat" cmpd="sng" algn="ctr">
                      <a:solidFill>
                        <a:srgbClr val="E1E7E3"/>
                      </a:solidFill>
                      <a:prstDash val="solid"/>
                      <a:round/>
                      <a:headEnd type="none" w="med" len="med"/>
                      <a:tailEnd type="none" w="med" len="med"/>
                    </a:lnL>
                    <a:lnR w="9525" cap="flat" cmpd="sng" algn="ctr">
                      <a:solidFill>
                        <a:srgbClr val="E1E7E3"/>
                      </a:solidFill>
                      <a:prstDash val="solid"/>
                      <a:round/>
                      <a:headEnd type="none" w="med" len="med"/>
                      <a:tailEnd type="none" w="med" len="med"/>
                    </a:lnR>
                    <a:lnT w="9525" cap="flat" cmpd="sng" algn="ctr">
                      <a:solidFill>
                        <a:srgbClr val="E1E7E3"/>
                      </a:solidFill>
                      <a:prstDash val="solid"/>
                      <a:round/>
                      <a:headEnd type="none" w="med" len="med"/>
                      <a:tailEnd type="none" w="med" len="med"/>
                    </a:lnT>
                    <a:lnB w="9525" cap="flat" cmpd="sng" algn="ctr">
                      <a:solidFill>
                        <a:srgbClr val="E1E7E3"/>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Vetted exercise library only; contraindication checker; physio signs or approves</a:t>
                      </a:r>
                      <a:endParaRPr lang="en-US" sz="1300" dirty="0"/>
                    </a:p>
                  </a:txBody>
                  <a:tcPr marL="101600" marR="101600" marT="50800" marB="50800" anchor="ctr">
                    <a:lnL w="9525" cap="flat" cmpd="sng" algn="ctr">
                      <a:solidFill>
                        <a:srgbClr val="E1E7E3"/>
                      </a:solidFill>
                      <a:prstDash val="solid"/>
                      <a:round/>
                      <a:headEnd type="none" w="med" len="med"/>
                      <a:tailEnd type="none" w="med" len="med"/>
                    </a:lnL>
                    <a:lnR w="9525" cap="flat" cmpd="sng" algn="ctr">
                      <a:solidFill>
                        <a:srgbClr val="E1E7E3"/>
                      </a:solidFill>
                      <a:prstDash val="solid"/>
                      <a:round/>
                      <a:headEnd type="none" w="med" len="med"/>
                      <a:tailEnd type="none" w="med" len="med"/>
                    </a:lnR>
                    <a:lnT w="9525" cap="flat" cmpd="sng" algn="ctr">
                      <a:solidFill>
                        <a:srgbClr val="E1E7E3"/>
                      </a:solidFill>
                      <a:prstDash val="solid"/>
                      <a:round/>
                      <a:headEnd type="none" w="med" len="med"/>
                      <a:tailEnd type="none" w="med" len="med"/>
                    </a:lnT>
                    <a:lnB w="9525" cap="flat" cmpd="sng" algn="ctr">
                      <a:solidFill>
                        <a:srgbClr val="E1E7E3"/>
                      </a:solidFill>
                      <a:prstDash val="solid"/>
                      <a:round/>
                      <a:headEnd type="none" w="med" len="med"/>
                      <a:tailEnd type="none" w="med" len="med"/>
                    </a:lnB>
                    <a:solidFill>
                      <a:schemeClr val="bg1"/>
                    </a:solidFill>
                  </a:tcPr>
                </a:tc>
              </a:tr>
              <a:tr h="566928">
                <a:tc>
                  <a:txBody>
                    <a:bodyPr/>
                    <a:lstStyle/>
                    <a:p>
                      <a:pPr indent="0" marL="0">
                        <a:buNone/>
                      </a:pPr>
                      <a:r>
                        <a:rPr lang="en-US" sz="1300" b="1" dirty="0">
                          <a:solidFill>
                            <a:schemeClr val="tx1"/>
                          </a:solidFill>
                        </a:rPr>
                        <a:t>The physio's brief</a:t>
                      </a:r>
                      <a:endParaRPr lang="en-US" sz="1300" dirty="0"/>
                    </a:p>
                  </a:txBody>
                  <a:tcPr marL="101600" marR="101600" marT="50800" marB="50800" anchor="ctr">
                    <a:lnL w="9525" cap="flat" cmpd="sng" algn="ctr">
                      <a:solidFill>
                        <a:srgbClr val="E1E7E3"/>
                      </a:solidFill>
                      <a:prstDash val="solid"/>
                      <a:round/>
                      <a:headEnd type="none" w="med" len="med"/>
                      <a:tailEnd type="none" w="med" len="med"/>
                    </a:lnL>
                    <a:lnR w="9525" cap="flat" cmpd="sng" algn="ctr">
                      <a:solidFill>
                        <a:srgbClr val="E1E7E3"/>
                      </a:solidFill>
                      <a:prstDash val="solid"/>
                      <a:round/>
                      <a:headEnd type="none" w="med" len="med"/>
                      <a:tailEnd type="none" w="med" len="med"/>
                    </a:lnR>
                    <a:lnT w="9525" cap="flat" cmpd="sng" algn="ctr">
                      <a:solidFill>
                        <a:srgbClr val="E1E7E3"/>
                      </a:solidFill>
                      <a:prstDash val="solid"/>
                      <a:round/>
                      <a:headEnd type="none" w="med" len="med"/>
                      <a:tailEnd type="none" w="med" len="med"/>
                    </a:lnT>
                    <a:lnB w="9525" cap="flat" cmpd="sng" algn="ctr">
                      <a:solidFill>
                        <a:srgbClr val="E1E7E3"/>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Lele on ADP, CLINICIAN BRIEF mode</a:t>
                      </a:r>
                      <a:endParaRPr lang="en-US" sz="1300" dirty="0"/>
                    </a:p>
                  </a:txBody>
                  <a:tcPr marL="101600" marR="101600" marT="50800" marB="50800" anchor="ctr">
                    <a:lnL w="9525" cap="flat" cmpd="sng" algn="ctr">
                      <a:solidFill>
                        <a:srgbClr val="E1E7E3"/>
                      </a:solidFill>
                      <a:prstDash val="solid"/>
                      <a:round/>
                      <a:headEnd type="none" w="med" len="med"/>
                      <a:tailEnd type="none" w="med" len="med"/>
                    </a:lnL>
                    <a:lnR w="9525" cap="flat" cmpd="sng" algn="ctr">
                      <a:solidFill>
                        <a:srgbClr val="E1E7E3"/>
                      </a:solidFill>
                      <a:prstDash val="solid"/>
                      <a:round/>
                      <a:headEnd type="none" w="med" len="med"/>
                      <a:tailEnd type="none" w="med" len="med"/>
                    </a:lnR>
                    <a:lnT w="9525" cap="flat" cmpd="sng" algn="ctr">
                      <a:solidFill>
                        <a:srgbClr val="E1E7E3"/>
                      </a:solidFill>
                      <a:prstDash val="solid"/>
                      <a:round/>
                      <a:headEnd type="none" w="med" len="med"/>
                      <a:tailEnd type="none" w="med" len="med"/>
                    </a:lnT>
                    <a:lnB w="9525" cap="flat" cmpd="sng" algn="ctr">
                      <a:solidFill>
                        <a:srgbClr val="E1E7E3"/>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Every number and flag is computed by code and passed in</a:t>
                      </a:r>
                      <a:endParaRPr lang="en-US" sz="1300" dirty="0"/>
                    </a:p>
                  </a:txBody>
                  <a:tcPr marL="101600" marR="101600" marT="50800" marB="50800" anchor="ctr">
                    <a:lnL w="9525" cap="flat" cmpd="sng" algn="ctr">
                      <a:solidFill>
                        <a:srgbClr val="E1E7E3"/>
                      </a:solidFill>
                      <a:prstDash val="solid"/>
                      <a:round/>
                      <a:headEnd type="none" w="med" len="med"/>
                      <a:tailEnd type="none" w="med" len="med"/>
                    </a:lnL>
                    <a:lnR w="9525" cap="flat" cmpd="sng" algn="ctr">
                      <a:solidFill>
                        <a:srgbClr val="E1E7E3"/>
                      </a:solidFill>
                      <a:prstDash val="solid"/>
                      <a:round/>
                      <a:headEnd type="none" w="med" len="med"/>
                      <a:tailEnd type="none" w="med" len="med"/>
                    </a:lnR>
                    <a:lnT w="9525" cap="flat" cmpd="sng" algn="ctr">
                      <a:solidFill>
                        <a:srgbClr val="E1E7E3"/>
                      </a:solidFill>
                      <a:prstDash val="solid"/>
                      <a:round/>
                      <a:headEnd type="none" w="med" len="med"/>
                      <a:tailEnd type="none" w="med" len="med"/>
                    </a:lnT>
                    <a:lnB w="9525" cap="flat" cmpd="sng" algn="ctr">
                      <a:solidFill>
                        <a:srgbClr val="E1E7E3"/>
                      </a:solidFill>
                      <a:prstDash val="solid"/>
                      <a:round/>
                      <a:headEnd type="none" w="med" len="med"/>
                      <a:tailEnd type="none" w="med" len="med"/>
                    </a:lnB>
                    <a:solidFill>
                      <a:schemeClr val="bg2"/>
                    </a:solidFill>
                  </a:tcPr>
                </a:tc>
              </a:tr>
              <a:tr h="566928">
                <a:tc>
                  <a:txBody>
                    <a:bodyPr/>
                    <a:lstStyle/>
                    <a:p>
                      <a:pPr indent="0" marL="0">
                        <a:buNone/>
                      </a:pPr>
                      <a:r>
                        <a:rPr lang="en-US" sz="1300" b="1" dirty="0">
                          <a:solidFill>
                            <a:schemeClr val="tx1"/>
                          </a:solidFill>
                        </a:rPr>
                        <a:t>Planning by chat</a:t>
                      </a:r>
                      <a:endParaRPr lang="en-US" sz="1300" dirty="0"/>
                    </a:p>
                  </a:txBody>
                  <a:tcPr marL="101600" marR="101600" marT="50800" marB="50800" anchor="ctr">
                    <a:lnL w="9525" cap="flat" cmpd="sng" algn="ctr">
                      <a:solidFill>
                        <a:srgbClr val="E1E7E3"/>
                      </a:solidFill>
                      <a:prstDash val="solid"/>
                      <a:round/>
                      <a:headEnd type="none" w="med" len="med"/>
                      <a:tailEnd type="none" w="med" len="med"/>
                    </a:lnL>
                    <a:lnR w="9525" cap="flat" cmpd="sng" algn="ctr">
                      <a:solidFill>
                        <a:srgbClr val="E1E7E3"/>
                      </a:solidFill>
                      <a:prstDash val="solid"/>
                      <a:round/>
                      <a:headEnd type="none" w="med" len="med"/>
                      <a:tailEnd type="none" w="med" len="med"/>
                    </a:lnR>
                    <a:lnT w="9525" cap="flat" cmpd="sng" algn="ctr">
                      <a:solidFill>
                        <a:srgbClr val="E1E7E3"/>
                      </a:solidFill>
                      <a:prstDash val="solid"/>
                      <a:round/>
                      <a:headEnd type="none" w="med" len="med"/>
                      <a:tailEnd type="none" w="med" len="med"/>
                    </a:lnT>
                    <a:lnB w="9525" cap="flat" cmpd="sng" algn="ctr">
                      <a:solidFill>
                        <a:srgbClr val="E1E7E3"/>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Five questions in code, then an ADP draft</a:t>
                      </a:r>
                      <a:endParaRPr lang="en-US" sz="1300" dirty="0"/>
                    </a:p>
                  </a:txBody>
                  <a:tcPr marL="101600" marR="101600" marT="50800" marB="50800" anchor="ctr">
                    <a:lnL w="9525" cap="flat" cmpd="sng" algn="ctr">
                      <a:solidFill>
                        <a:srgbClr val="E1E7E3"/>
                      </a:solidFill>
                      <a:prstDash val="solid"/>
                      <a:round/>
                      <a:headEnd type="none" w="med" len="med"/>
                      <a:tailEnd type="none" w="med" len="med"/>
                    </a:lnL>
                    <a:lnR w="9525" cap="flat" cmpd="sng" algn="ctr">
                      <a:solidFill>
                        <a:srgbClr val="E1E7E3"/>
                      </a:solidFill>
                      <a:prstDash val="solid"/>
                      <a:round/>
                      <a:headEnd type="none" w="med" len="med"/>
                      <a:tailEnd type="none" w="med" len="med"/>
                    </a:lnR>
                    <a:lnT w="9525" cap="flat" cmpd="sng" algn="ctr">
                      <a:solidFill>
                        <a:srgbClr val="E1E7E3"/>
                      </a:solidFill>
                      <a:prstDash val="solid"/>
                      <a:round/>
                      <a:headEnd type="none" w="med" len="med"/>
                      <a:tailEnd type="none" w="med" len="med"/>
                    </a:lnT>
                    <a:lnB w="9525" cap="flat" cmpd="sng" algn="ctr">
                      <a:solidFill>
                        <a:srgbClr val="E1E7E3"/>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A supervised patient's plan waits for the physio's yes</a:t>
                      </a:r>
                      <a:endParaRPr lang="en-US" sz="1300" dirty="0"/>
                    </a:p>
                  </a:txBody>
                  <a:tcPr marL="101600" marR="101600" marT="50800" marB="50800" anchor="ctr">
                    <a:lnL w="9525" cap="flat" cmpd="sng" algn="ctr">
                      <a:solidFill>
                        <a:srgbClr val="E1E7E3"/>
                      </a:solidFill>
                      <a:prstDash val="solid"/>
                      <a:round/>
                      <a:headEnd type="none" w="med" len="med"/>
                      <a:tailEnd type="none" w="med" len="med"/>
                    </a:lnL>
                    <a:lnR w="9525" cap="flat" cmpd="sng" algn="ctr">
                      <a:solidFill>
                        <a:srgbClr val="E1E7E3"/>
                      </a:solidFill>
                      <a:prstDash val="solid"/>
                      <a:round/>
                      <a:headEnd type="none" w="med" len="med"/>
                      <a:tailEnd type="none" w="med" len="med"/>
                    </a:lnR>
                    <a:lnT w="9525" cap="flat" cmpd="sng" algn="ctr">
                      <a:solidFill>
                        <a:srgbClr val="E1E7E3"/>
                      </a:solidFill>
                      <a:prstDash val="solid"/>
                      <a:round/>
                      <a:headEnd type="none" w="med" len="med"/>
                      <a:tailEnd type="none" w="med" len="med"/>
                    </a:lnT>
                    <a:lnB w="9525" cap="flat" cmpd="sng" algn="ctr">
                      <a:solidFill>
                        <a:srgbClr val="E1E7E3"/>
                      </a:solidFill>
                      <a:prstDash val="solid"/>
                      <a:round/>
                      <a:headEnd type="none" w="med" len="med"/>
                      <a:tailEnd type="none" w="med" len="med"/>
                    </a:lnB>
                    <a:solidFill>
                      <a:schemeClr val="bg1"/>
                    </a:solidFill>
                  </a:tcPr>
                </a:tc>
              </a:tr>
              <a:tr h="566928">
                <a:tc>
                  <a:txBody>
                    <a:bodyPr/>
                    <a:lstStyle/>
                    <a:p>
                      <a:pPr indent="0" marL="0">
                        <a:buNone/>
                      </a:pPr>
                      <a:r>
                        <a:rPr lang="en-US" sz="1300" b="1" dirty="0">
                          <a:solidFill>
                            <a:schemeClr val="tx1"/>
                          </a:solidFill>
                        </a:rPr>
                        <a:t>Remembering what hurt</a:t>
                      </a:r>
                      <a:endParaRPr lang="en-US" sz="1300" dirty="0"/>
                    </a:p>
                  </a:txBody>
                  <a:tcPr marL="101600" marR="101600" marT="50800" marB="50800" anchor="ctr">
                    <a:lnL w="9525" cap="flat" cmpd="sng" algn="ctr">
                      <a:solidFill>
                        <a:srgbClr val="E1E7E3"/>
                      </a:solidFill>
                      <a:prstDash val="solid"/>
                      <a:round/>
                      <a:headEnd type="none" w="med" len="med"/>
                      <a:tailEnd type="none" w="med" len="med"/>
                    </a:lnL>
                    <a:lnR w="9525" cap="flat" cmpd="sng" algn="ctr">
                      <a:solidFill>
                        <a:srgbClr val="E1E7E3"/>
                      </a:solidFill>
                      <a:prstDash val="solid"/>
                      <a:round/>
                      <a:headEnd type="none" w="med" len="med"/>
                      <a:tailEnd type="none" w="med" len="med"/>
                    </a:lnR>
                    <a:lnT w="9525" cap="flat" cmpd="sng" algn="ctr">
                      <a:solidFill>
                        <a:srgbClr val="E1E7E3"/>
                      </a:solidFill>
                      <a:prstDash val="solid"/>
                      <a:round/>
                      <a:headEnd type="none" w="med" len="med"/>
                      <a:tailEnd type="none" w="med" len="med"/>
                    </a:lnT>
                    <a:lnB w="9525" cap="flat" cmpd="sng" algn="ctr">
                      <a:solidFill>
                        <a:srgbClr val="E1E7E3"/>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Care notes (CareMemory)</a:t>
                      </a:r>
                      <a:endParaRPr lang="en-US" sz="1300" dirty="0"/>
                    </a:p>
                  </a:txBody>
                  <a:tcPr marL="101600" marR="101600" marT="50800" marB="50800" anchor="ctr">
                    <a:lnL w="9525" cap="flat" cmpd="sng" algn="ctr">
                      <a:solidFill>
                        <a:srgbClr val="E1E7E3"/>
                      </a:solidFill>
                      <a:prstDash val="solid"/>
                      <a:round/>
                      <a:headEnd type="none" w="med" len="med"/>
                      <a:tailEnd type="none" w="med" len="med"/>
                    </a:lnL>
                    <a:lnR w="9525" cap="flat" cmpd="sng" algn="ctr">
                      <a:solidFill>
                        <a:srgbClr val="E1E7E3"/>
                      </a:solidFill>
                      <a:prstDash val="solid"/>
                      <a:round/>
                      <a:headEnd type="none" w="med" len="med"/>
                      <a:tailEnd type="none" w="med" len="med"/>
                    </a:lnR>
                    <a:lnT w="9525" cap="flat" cmpd="sng" algn="ctr">
                      <a:solidFill>
                        <a:srgbClr val="E1E7E3"/>
                      </a:solidFill>
                      <a:prstDash val="solid"/>
                      <a:round/>
                      <a:headEnd type="none" w="med" len="med"/>
                      <a:tailEnd type="none" w="med" len="med"/>
                    </a:lnT>
                    <a:lnB w="9525" cap="flat" cmpd="sng" algn="ctr">
                      <a:solidFill>
                        <a:srgbClr val="E1E7E3"/>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Easing computed by code; the physio sees every note</a:t>
                      </a:r>
                      <a:endParaRPr lang="en-US" sz="1300" dirty="0"/>
                    </a:p>
                  </a:txBody>
                  <a:tcPr marL="101600" marR="101600" marT="50800" marB="50800" anchor="ctr">
                    <a:lnL w="9525" cap="flat" cmpd="sng" algn="ctr">
                      <a:solidFill>
                        <a:srgbClr val="E1E7E3"/>
                      </a:solidFill>
                      <a:prstDash val="solid"/>
                      <a:round/>
                      <a:headEnd type="none" w="med" len="med"/>
                      <a:tailEnd type="none" w="med" len="med"/>
                    </a:lnL>
                    <a:lnR w="9525" cap="flat" cmpd="sng" algn="ctr">
                      <a:solidFill>
                        <a:srgbClr val="E1E7E3"/>
                      </a:solidFill>
                      <a:prstDash val="solid"/>
                      <a:round/>
                      <a:headEnd type="none" w="med" len="med"/>
                      <a:tailEnd type="none" w="med" len="med"/>
                    </a:lnR>
                    <a:lnT w="9525" cap="flat" cmpd="sng" algn="ctr">
                      <a:solidFill>
                        <a:srgbClr val="E1E7E3"/>
                      </a:solidFill>
                      <a:prstDash val="solid"/>
                      <a:round/>
                      <a:headEnd type="none" w="med" len="med"/>
                      <a:tailEnd type="none" w="med" len="med"/>
                    </a:lnT>
                    <a:lnB w="9525" cap="flat" cmpd="sng" algn="ctr">
                      <a:solidFill>
                        <a:srgbClr val="E1E7E3"/>
                      </a:solidFill>
                      <a:prstDash val="solid"/>
                      <a:round/>
                      <a:headEnd type="none" w="med" len="med"/>
                      <a:tailEnd type="none" w="med" len="med"/>
                    </a:lnB>
                    <a:solidFill>
                      <a:schemeClr val="bg2"/>
                    </a:solidFill>
                  </a:tcPr>
                </a:tc>
              </a:tr>
              <a:tr h="566928">
                <a:tc>
                  <a:txBody>
                    <a:bodyPr/>
                    <a:lstStyle/>
                    <a:p>
                      <a:pPr indent="0" marL="0">
                        <a:buNone/>
                      </a:pPr>
                      <a:r>
                        <a:rPr lang="en-US" sz="1300" b="1" dirty="0">
                          <a:solidFill>
                            <a:schemeClr val="tx1"/>
                          </a:solidFill>
                        </a:rPr>
                        <a:t>Mid-session safety</a:t>
                      </a:r>
                      <a:endParaRPr lang="en-US" sz="1300" dirty="0"/>
                    </a:p>
                  </a:txBody>
                  <a:tcPr marL="101600" marR="101600" marT="50800" marB="50800" anchor="ctr">
                    <a:lnL w="9525" cap="flat" cmpd="sng" algn="ctr">
                      <a:solidFill>
                        <a:srgbClr val="E1E7E3"/>
                      </a:solidFill>
                      <a:prstDash val="solid"/>
                      <a:round/>
                      <a:headEnd type="none" w="med" len="med"/>
                      <a:tailEnd type="none" w="med" len="med"/>
                    </a:lnL>
                    <a:lnR w="9525" cap="flat" cmpd="sng" algn="ctr">
                      <a:solidFill>
                        <a:srgbClr val="E1E7E3"/>
                      </a:solidFill>
                      <a:prstDash val="solid"/>
                      <a:round/>
                      <a:headEnd type="none" w="med" len="med"/>
                      <a:tailEnd type="none" w="med" len="med"/>
                    </a:lnR>
                    <a:lnT w="9525" cap="flat" cmpd="sng" algn="ctr">
                      <a:solidFill>
                        <a:srgbClr val="E1E7E3"/>
                      </a:solidFill>
                      <a:prstDash val="solid"/>
                      <a:round/>
                      <a:headEnd type="none" w="med" len="med"/>
                      <a:tailEnd type="none" w="med" len="med"/>
                    </a:lnT>
                    <a:lnB w="9525" cap="flat" cmpd="sng" algn="ctr">
                      <a:solidFill>
                        <a:srgbClr val="E1E7E3"/>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Symptom rules, red flags, "make it easier"</a:t>
                      </a:r>
                      <a:endParaRPr lang="en-US" sz="1300" dirty="0"/>
                    </a:p>
                  </a:txBody>
                  <a:tcPr marL="101600" marR="101600" marT="50800" marB="50800" anchor="ctr">
                    <a:lnL w="9525" cap="flat" cmpd="sng" algn="ctr">
                      <a:solidFill>
                        <a:srgbClr val="E1E7E3"/>
                      </a:solidFill>
                      <a:prstDash val="solid"/>
                      <a:round/>
                      <a:headEnd type="none" w="med" len="med"/>
                      <a:tailEnd type="none" w="med" len="med"/>
                    </a:lnL>
                    <a:lnR w="9525" cap="flat" cmpd="sng" algn="ctr">
                      <a:solidFill>
                        <a:srgbClr val="E1E7E3"/>
                      </a:solidFill>
                      <a:prstDash val="solid"/>
                      <a:round/>
                      <a:headEnd type="none" w="med" len="med"/>
                      <a:tailEnd type="none" w="med" len="med"/>
                    </a:lnR>
                    <a:lnT w="9525" cap="flat" cmpd="sng" algn="ctr">
                      <a:solidFill>
                        <a:srgbClr val="E1E7E3"/>
                      </a:solidFill>
                      <a:prstDash val="solid"/>
                      <a:round/>
                      <a:headEnd type="none" w="med" len="med"/>
                      <a:tailEnd type="none" w="med" len="med"/>
                    </a:lnT>
                    <a:lnB w="9525" cap="flat" cmpd="sng" algn="ctr">
                      <a:solidFill>
                        <a:srgbClr val="E1E7E3"/>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The physio's pain limits decide; never below half the range</a:t>
                      </a:r>
                      <a:endParaRPr lang="en-US" sz="1300" dirty="0"/>
                    </a:p>
                  </a:txBody>
                  <a:tcPr marL="101600" marR="101600" marT="50800" marB="50800" anchor="ctr">
                    <a:lnL w="9525" cap="flat" cmpd="sng" algn="ctr">
                      <a:solidFill>
                        <a:srgbClr val="E1E7E3"/>
                      </a:solidFill>
                      <a:prstDash val="solid"/>
                      <a:round/>
                      <a:headEnd type="none" w="med" len="med"/>
                      <a:tailEnd type="none" w="med" len="med"/>
                    </a:lnL>
                    <a:lnR w="9525" cap="flat" cmpd="sng" algn="ctr">
                      <a:solidFill>
                        <a:srgbClr val="E1E7E3"/>
                      </a:solidFill>
                      <a:prstDash val="solid"/>
                      <a:round/>
                      <a:headEnd type="none" w="med" len="med"/>
                      <a:tailEnd type="none" w="med" len="med"/>
                    </a:lnR>
                    <a:lnT w="9525" cap="flat" cmpd="sng" algn="ctr">
                      <a:solidFill>
                        <a:srgbClr val="E1E7E3"/>
                      </a:solidFill>
                      <a:prstDash val="solid"/>
                      <a:round/>
                      <a:headEnd type="none" w="med" len="med"/>
                      <a:tailEnd type="none" w="med" len="med"/>
                    </a:lnT>
                    <a:lnB w="9525" cap="flat" cmpd="sng" algn="ctr">
                      <a:solidFill>
                        <a:srgbClr val="E1E7E3"/>
                      </a:solidFill>
                      <a:prstDash val="solid"/>
                      <a:round/>
                      <a:headEnd type="none" w="med" len="med"/>
                      <a:tailEnd type="none" w="med" len="med"/>
                    </a:lnB>
                    <a:solidFill>
                      <a:schemeClr val="bg1"/>
                    </a:solidFill>
                  </a:tcPr>
                </a:tc>
              </a:tr>
              <a:tr h="566928">
                <a:tc>
                  <a:txBody>
                    <a:bodyPr/>
                    <a:lstStyle/>
                    <a:p>
                      <a:pPr indent="0" marL="0">
                        <a:buNone/>
                      </a:pPr>
                      <a:r>
                        <a:rPr lang="en-US" sz="1300" b="1" dirty="0">
                          <a:solidFill>
                            <a:schemeClr val="tx1"/>
                          </a:solidFill>
                        </a:rPr>
                        <a:t>Seeing movement</a:t>
                      </a:r>
                      <a:endParaRPr lang="en-US" sz="1300" dirty="0"/>
                    </a:p>
                  </a:txBody>
                  <a:tcPr marL="101600" marR="101600" marT="50800" marB="50800" anchor="ctr">
                    <a:lnL w="9525" cap="flat" cmpd="sng" algn="ctr">
                      <a:solidFill>
                        <a:srgbClr val="E1E7E3"/>
                      </a:solidFill>
                      <a:prstDash val="solid"/>
                      <a:round/>
                      <a:headEnd type="none" w="med" len="med"/>
                      <a:tailEnd type="none" w="med" len="med"/>
                    </a:lnL>
                    <a:lnR w="9525" cap="flat" cmpd="sng" algn="ctr">
                      <a:solidFill>
                        <a:srgbClr val="E1E7E3"/>
                      </a:solidFill>
                      <a:prstDash val="solid"/>
                      <a:round/>
                      <a:headEnd type="none" w="med" len="med"/>
                      <a:tailEnd type="none" w="med" len="med"/>
                    </a:lnR>
                    <a:lnT w="9525" cap="flat" cmpd="sng" algn="ctr">
                      <a:solidFill>
                        <a:srgbClr val="E1E7E3"/>
                      </a:solidFill>
                      <a:prstDash val="solid"/>
                      <a:round/>
                      <a:headEnd type="none" w="med" len="med"/>
                      <a:tailEnd type="none" w="med" len="med"/>
                    </a:lnT>
                    <a:lnB w="9525" cap="flat" cmpd="sng" algn="ctr">
                      <a:solidFill>
                        <a:srgbClr val="E1E7E3"/>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Apple Vision (iPhone), MediaPipe (browser)</a:t>
                      </a:r>
                      <a:endParaRPr lang="en-US" sz="1300" dirty="0"/>
                    </a:p>
                  </a:txBody>
                  <a:tcPr marL="101600" marR="101600" marT="50800" marB="50800" anchor="ctr">
                    <a:lnL w="9525" cap="flat" cmpd="sng" algn="ctr">
                      <a:solidFill>
                        <a:srgbClr val="E1E7E3"/>
                      </a:solidFill>
                      <a:prstDash val="solid"/>
                      <a:round/>
                      <a:headEnd type="none" w="med" len="med"/>
                      <a:tailEnd type="none" w="med" len="med"/>
                    </a:lnL>
                    <a:lnR w="9525" cap="flat" cmpd="sng" algn="ctr">
                      <a:solidFill>
                        <a:srgbClr val="E1E7E3"/>
                      </a:solidFill>
                      <a:prstDash val="solid"/>
                      <a:round/>
                      <a:headEnd type="none" w="med" len="med"/>
                      <a:tailEnd type="none" w="med" len="med"/>
                    </a:lnR>
                    <a:lnT w="9525" cap="flat" cmpd="sng" algn="ctr">
                      <a:solidFill>
                        <a:srgbClr val="E1E7E3"/>
                      </a:solidFill>
                      <a:prstDash val="solid"/>
                      <a:round/>
                      <a:headEnd type="none" w="med" len="med"/>
                      <a:tailEnd type="none" w="med" len="med"/>
                    </a:lnT>
                    <a:lnB w="9525" cap="flat" cmpd="sng" algn="ctr">
                      <a:solidFill>
                        <a:srgbClr val="E1E7E3"/>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Video stays on the device; no count without a clear view</a:t>
                      </a:r>
                      <a:endParaRPr lang="en-US" sz="1300" dirty="0"/>
                    </a:p>
                  </a:txBody>
                  <a:tcPr marL="101600" marR="101600" marT="50800" marB="50800" anchor="ctr">
                    <a:lnL w="9525" cap="flat" cmpd="sng" algn="ctr">
                      <a:solidFill>
                        <a:srgbClr val="E1E7E3"/>
                      </a:solidFill>
                      <a:prstDash val="solid"/>
                      <a:round/>
                      <a:headEnd type="none" w="med" len="med"/>
                      <a:tailEnd type="none" w="med" len="med"/>
                    </a:lnL>
                    <a:lnR w="9525" cap="flat" cmpd="sng" algn="ctr">
                      <a:solidFill>
                        <a:srgbClr val="E1E7E3"/>
                      </a:solidFill>
                      <a:prstDash val="solid"/>
                      <a:round/>
                      <a:headEnd type="none" w="med" len="med"/>
                      <a:tailEnd type="none" w="med" len="med"/>
                    </a:lnR>
                    <a:lnT w="9525" cap="flat" cmpd="sng" algn="ctr">
                      <a:solidFill>
                        <a:srgbClr val="E1E7E3"/>
                      </a:solidFill>
                      <a:prstDash val="solid"/>
                      <a:round/>
                      <a:headEnd type="none" w="med" len="med"/>
                      <a:tailEnd type="none" w="med" len="med"/>
                    </a:lnT>
                    <a:lnB w="9525" cap="flat" cmpd="sng" algn="ctr">
                      <a:solidFill>
                        <a:srgbClr val="E1E7E3"/>
                      </a:solidFill>
                      <a:prstDash val="solid"/>
                      <a:round/>
                      <a:headEnd type="none" w="med" len="med"/>
                      <a:tailEnd type="none" w="med" len="med"/>
                    </a:lnB>
                    <a:solidFill>
                      <a:schemeClr val="bg2"/>
                    </a:solidFill>
                  </a:tcPr>
                </a:tc>
              </a:tr>
            </a:tbl>
          </a:graphicData>
        </a:graphic>
      </p:graphicFrame>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lIns="0" tIns="0" rIns="0" bIns="0" rtlCol="0" anchor="ctr"/>
          <a:lstStyle/>
          <a:p>
            <a:pPr algn="l" indent="0" marL="0">
              <a:buNone/>
            </a:pPr>
            <a:r>
              <a:rPr lang="en-US" sz="3200" b="1" dirty="0">
                <a:solidFill>
                  <a:schemeClr val="tx1"/>
                </a:solidFill>
              </a:rPr>
              <a:t>How prompts drive Lele</a:t>
            </a:r>
            <a:endParaRPr lang="en-US" sz="3200" dirty="0"/>
          </a:p>
        </p:txBody>
      </p:sp>
      <p:sp>
        <p:nvSpPr>
          <p:cNvPr id="3" name="Rules first banner"/>
          <p:cNvSpPr/>
          <p:nvPr/>
        </p:nvSpPr>
        <p:spPr>
          <a:xfrm>
            <a:off x="548640" y="1188720"/>
            <a:ext cx="11064240" cy="685800"/>
          </a:xfrm>
          <a:prstGeom prst="roundRect">
            <a:avLst>
              <a:gd name="adj" fmla="val 16000"/>
            </a:avLst>
          </a:prstGeom>
          <a:solidFill>
            <a:schemeClr val="accent3"/>
          </a:solidFill>
          <a:ln w="12700">
            <a:solidFill>
              <a:schemeClr val="accent3"/>
            </a:solidFill>
            <a:prstDash val="solid"/>
          </a:ln>
        </p:spPr>
      </p:sp>
      <p:sp>
        <p:nvSpPr>
          <p:cNvPr id="4" name="Text 2"/>
          <p:cNvSpPr txBox="1"/>
          <p:nvPr/>
        </p:nvSpPr>
        <p:spPr>
          <a:xfrm>
            <a:off x="777240" y="1188720"/>
            <a:ext cx="10607040" cy="685800"/>
          </a:xfrm>
          <a:prstGeom prst="rect">
            <a:avLst/>
          </a:prstGeom>
          <a:noFill/>
          <a:ln/>
        </p:spPr>
        <p:txBody>
          <a:bodyPr wrap="square" lIns="0" tIns="0" rIns="0" bIns="0" rtlCol="0" anchor="ctr"/>
          <a:lstStyle/>
          <a:p>
            <a:pPr indent="0" marL="0">
              <a:buNone/>
            </a:pPr>
            <a:r>
              <a:rPr lang="en-US" sz="1500" b="1" dirty="0">
                <a:solidFill>
                  <a:schemeClr val="accent1"/>
                </a:solidFill>
              </a:rPr>
              <a:t>Rules first. </a:t>
            </a:r>
            <a:pPr indent="0" marL="0">
              <a:buNone/>
            </a:pPr>
            <a:r>
              <a:rPr lang="en-US" sz="1500" dirty="0">
                <a:solidFill>
                  <a:schemeClr val="tx1"/>
                </a:solidFill>
              </a:rPr>
              <a:t>Red flags, medicine dose questions and pain limits are answered by tested code before any model sees a message.</a:t>
            </a:r>
            <a:endParaRPr lang="en-US" sz="1500" dirty="0"/>
          </a:p>
        </p:txBody>
      </p:sp>
      <p:sp>
        <p:nvSpPr>
          <p:cNvPr id="5" name="Card Chat"/>
          <p:cNvSpPr/>
          <p:nvPr/>
        </p:nvSpPr>
        <p:spPr>
          <a:xfrm>
            <a:off x="548640" y="2148840"/>
            <a:ext cx="3520440" cy="2971800"/>
          </a:xfrm>
          <a:prstGeom prst="roundRect">
            <a:avLst>
              <a:gd name="adj" fmla="val 4615"/>
            </a:avLst>
          </a:prstGeom>
          <a:solidFill>
            <a:schemeClr val="bg2"/>
          </a:solidFill>
          <a:ln w="9525">
            <a:solidFill>
              <a:srgbClr val="E1E7E3"/>
            </a:solidFill>
            <a:prstDash val="solid"/>
          </a:ln>
        </p:spPr>
      </p:sp>
      <p:sp>
        <p:nvSpPr>
          <p:cNvPr id="6" name="Step 1"/>
          <p:cNvSpPr/>
          <p:nvPr/>
        </p:nvSpPr>
        <p:spPr>
          <a:xfrm>
            <a:off x="822960" y="2377440"/>
            <a:ext cx="502920" cy="502920"/>
          </a:xfrm>
          <a:prstGeom prst="ellipse">
            <a:avLst/>
          </a:prstGeom>
          <a:solidFill>
            <a:schemeClr val="accent1"/>
          </a:solidFill>
          <a:ln w="12700">
            <a:solidFill>
              <a:schemeClr val="accent1"/>
            </a:solidFill>
            <a:prstDash val="solid"/>
          </a:ln>
        </p:spPr>
      </p:sp>
      <p:sp>
        <p:nvSpPr>
          <p:cNvPr id="7" name="Text 5"/>
          <p:cNvSpPr txBox="1"/>
          <p:nvPr/>
        </p:nvSpPr>
        <p:spPr>
          <a:xfrm>
            <a:off x="822960" y="2377440"/>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rPr>
              <a:t>1</a:t>
            </a:r>
            <a:endParaRPr lang="en-US" sz="1800" dirty="0"/>
          </a:p>
        </p:txBody>
      </p:sp>
      <p:sp>
        <p:nvSpPr>
          <p:cNvPr id="8" name="Text 6"/>
          <p:cNvSpPr txBox="1"/>
          <p:nvPr/>
        </p:nvSpPr>
        <p:spPr>
          <a:xfrm>
            <a:off x="1463040" y="2377440"/>
            <a:ext cx="2423160" cy="502920"/>
          </a:xfrm>
          <a:prstGeom prst="rect">
            <a:avLst/>
          </a:prstGeom>
          <a:noFill/>
          <a:ln/>
        </p:spPr>
        <p:txBody>
          <a:bodyPr wrap="square" lIns="0" tIns="0" rIns="0" bIns="0" rtlCol="0" anchor="ctr"/>
          <a:lstStyle/>
          <a:p>
            <a:pPr indent="0" marL="0">
              <a:buNone/>
            </a:pPr>
            <a:r>
              <a:rPr lang="en-US" sz="1900" b="1" dirty="0">
                <a:solidFill>
                  <a:schemeClr val="tx1"/>
                </a:solidFill>
              </a:rPr>
              <a:t>Chat</a:t>
            </a:r>
            <a:endParaRPr lang="en-US" sz="1900" dirty="0"/>
          </a:p>
        </p:txBody>
      </p:sp>
      <p:sp>
        <p:nvSpPr>
          <p:cNvPr id="9" name="Text 7"/>
          <p:cNvSpPr txBox="1"/>
          <p:nvPr/>
        </p:nvSpPr>
        <p:spPr>
          <a:xfrm>
            <a:off x="822960" y="3063240"/>
            <a:ext cx="3017520" cy="1920240"/>
          </a:xfrm>
          <a:prstGeom prst="rect">
            <a:avLst/>
          </a:prstGeom>
          <a:noFill/>
          <a:ln/>
        </p:spPr>
        <p:txBody>
          <a:bodyPr wrap="square" lIns="0" tIns="0" rIns="0" bIns="0" rtlCol="0" anchor="t"/>
          <a:lstStyle/>
          <a:p>
            <a:pPr indent="0" marL="0">
              <a:spcAft>
                <a:spcPts val="1000"/>
              </a:spcAft>
              <a:buNone/>
            </a:pPr>
            <a:r>
              <a:rPr lang="en-US" sz="1400" dirty="0">
                <a:solidFill>
                  <a:schemeClr val="tx1"/>
                </a:solidFill>
              </a:rPr>
              <a:t>Sent: the person's program, goals, measurements, last session and care notes, then the question and a reminder of Lele's voice.</a:t>
            </a:r>
            <a:endParaRPr lang="en-US" sz="1400" dirty="0"/>
          </a:p>
          <a:p>
            <a:pPr indent="0" marL="0">
              <a:buNone/>
            </a:pPr>
            <a:r>
              <a:rPr lang="en-US" sz="1400" dirty="0">
                <a:solidFill>
                  <a:schemeClr val="tx1"/>
                </a:solidFill>
              </a:rPr>
              <a:t>Back: a reply in Lele's voice, under 120 words, quoting real numbers. A "remember" line becomes a care note only after code checks it.</a:t>
            </a:r>
            <a:endParaRPr lang="en-US" sz="1400" dirty="0"/>
          </a:p>
        </p:txBody>
      </p:sp>
      <p:sp>
        <p:nvSpPr>
          <p:cNvPr id="10" name="Card PLAN REQUEST"/>
          <p:cNvSpPr/>
          <p:nvPr/>
        </p:nvSpPr>
        <p:spPr>
          <a:xfrm>
            <a:off x="4320540" y="2148840"/>
            <a:ext cx="3520440" cy="2971800"/>
          </a:xfrm>
          <a:prstGeom prst="roundRect">
            <a:avLst>
              <a:gd name="adj" fmla="val 4615"/>
            </a:avLst>
          </a:prstGeom>
          <a:solidFill>
            <a:schemeClr val="bg2"/>
          </a:solidFill>
          <a:ln w="9525">
            <a:solidFill>
              <a:srgbClr val="E1E7E3"/>
            </a:solidFill>
            <a:prstDash val="solid"/>
          </a:ln>
        </p:spPr>
      </p:sp>
      <p:sp>
        <p:nvSpPr>
          <p:cNvPr id="11" name="Step 2"/>
          <p:cNvSpPr/>
          <p:nvPr/>
        </p:nvSpPr>
        <p:spPr>
          <a:xfrm>
            <a:off x="4594860" y="2377440"/>
            <a:ext cx="502920" cy="502920"/>
          </a:xfrm>
          <a:prstGeom prst="ellipse">
            <a:avLst/>
          </a:prstGeom>
          <a:solidFill>
            <a:schemeClr val="accent1"/>
          </a:solidFill>
          <a:ln w="12700">
            <a:solidFill>
              <a:schemeClr val="accent1"/>
            </a:solidFill>
            <a:prstDash val="solid"/>
          </a:ln>
        </p:spPr>
      </p:sp>
      <p:sp>
        <p:nvSpPr>
          <p:cNvPr id="12" name="Text 10"/>
          <p:cNvSpPr txBox="1"/>
          <p:nvPr/>
        </p:nvSpPr>
        <p:spPr>
          <a:xfrm>
            <a:off x="4594860" y="2377440"/>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13" name="Text 11"/>
          <p:cNvSpPr txBox="1"/>
          <p:nvPr/>
        </p:nvSpPr>
        <p:spPr>
          <a:xfrm>
            <a:off x="5234940" y="2377440"/>
            <a:ext cx="2423160" cy="502920"/>
          </a:xfrm>
          <a:prstGeom prst="rect">
            <a:avLst/>
          </a:prstGeom>
          <a:noFill/>
          <a:ln/>
        </p:spPr>
        <p:txBody>
          <a:bodyPr wrap="square" lIns="0" tIns="0" rIns="0" bIns="0" rtlCol="0" anchor="ctr"/>
          <a:lstStyle/>
          <a:p>
            <a:pPr indent="0" marL="0">
              <a:buNone/>
            </a:pPr>
            <a:r>
              <a:rPr lang="en-US" sz="1900" b="1" dirty="0">
                <a:solidFill>
                  <a:schemeClr val="tx1"/>
                </a:solidFill>
              </a:rPr>
              <a:t>PLAN REQUEST</a:t>
            </a:r>
            <a:endParaRPr lang="en-US" sz="1900" dirty="0"/>
          </a:p>
        </p:txBody>
      </p:sp>
      <p:sp>
        <p:nvSpPr>
          <p:cNvPr id="14" name="Text 12"/>
          <p:cNvSpPr txBox="1"/>
          <p:nvPr/>
        </p:nvSpPr>
        <p:spPr>
          <a:xfrm>
            <a:off x="4594860" y="3063240"/>
            <a:ext cx="3017520" cy="1920240"/>
          </a:xfrm>
          <a:prstGeom prst="rect">
            <a:avLst/>
          </a:prstGeom>
          <a:noFill/>
          <a:ln/>
        </p:spPr>
        <p:txBody>
          <a:bodyPr wrap="square" lIns="0" tIns="0" rIns="0" bIns="0" rtlCol="0" anchor="t"/>
          <a:lstStyle/>
          <a:p>
            <a:pPr indent="0" marL="0">
              <a:spcAft>
                <a:spcPts val="1000"/>
              </a:spcAft>
              <a:buNone/>
            </a:pPr>
            <a:r>
              <a:rPr lang="en-US" sz="1400" dirty="0">
                <a:solidFill>
                  <a:schemeClr val="tx1"/>
                </a:solidFill>
              </a:rPr>
              <a:t>Sent: goals, minutes a day, experience, areas to protect, the physio's precautions, and the only exercise ids allowed.</a:t>
            </a:r>
            <a:endParaRPr lang="en-US" sz="1400" dirty="0"/>
          </a:p>
          <a:p>
            <a:pPr indent="0" marL="0">
              <a:buNone/>
            </a:pPr>
            <a:r>
              <a:rPr lang="en-US" sz="1400" dirty="0">
                <a:solidFill>
                  <a:schemeClr val="tx1"/>
                </a:solidFill>
              </a:rPr>
              <a:t>Back: a JSON draft, then a schema check and the contraindication checker. A physio patient's plan waits for approval.</a:t>
            </a:r>
            <a:endParaRPr lang="en-US" sz="1400" dirty="0"/>
          </a:p>
        </p:txBody>
      </p:sp>
      <p:sp>
        <p:nvSpPr>
          <p:cNvPr id="15" name="Card CLINICIAN BRIEF"/>
          <p:cNvSpPr/>
          <p:nvPr/>
        </p:nvSpPr>
        <p:spPr>
          <a:xfrm>
            <a:off x="8092440" y="2148840"/>
            <a:ext cx="3520440" cy="2971800"/>
          </a:xfrm>
          <a:prstGeom prst="roundRect">
            <a:avLst>
              <a:gd name="adj" fmla="val 4615"/>
            </a:avLst>
          </a:prstGeom>
          <a:solidFill>
            <a:schemeClr val="bg2"/>
          </a:solidFill>
          <a:ln w="9525">
            <a:solidFill>
              <a:srgbClr val="E1E7E3"/>
            </a:solidFill>
            <a:prstDash val="solid"/>
          </a:ln>
        </p:spPr>
      </p:sp>
      <p:sp>
        <p:nvSpPr>
          <p:cNvPr id="16" name="Step 3"/>
          <p:cNvSpPr/>
          <p:nvPr/>
        </p:nvSpPr>
        <p:spPr>
          <a:xfrm>
            <a:off x="8366760" y="2377440"/>
            <a:ext cx="502920" cy="502920"/>
          </a:xfrm>
          <a:prstGeom prst="ellipse">
            <a:avLst/>
          </a:prstGeom>
          <a:solidFill>
            <a:schemeClr val="accent1"/>
          </a:solidFill>
          <a:ln w="12700">
            <a:solidFill>
              <a:schemeClr val="accent1"/>
            </a:solidFill>
            <a:prstDash val="solid"/>
          </a:ln>
        </p:spPr>
      </p:sp>
      <p:sp>
        <p:nvSpPr>
          <p:cNvPr id="17" name="Text 15"/>
          <p:cNvSpPr txBox="1"/>
          <p:nvPr/>
        </p:nvSpPr>
        <p:spPr>
          <a:xfrm>
            <a:off x="8366760" y="2377440"/>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rPr>
              <a:t>3</a:t>
            </a:r>
            <a:endParaRPr lang="en-US" sz="1800" dirty="0"/>
          </a:p>
        </p:txBody>
      </p:sp>
      <p:sp>
        <p:nvSpPr>
          <p:cNvPr id="18" name="Text 16"/>
          <p:cNvSpPr txBox="1"/>
          <p:nvPr/>
        </p:nvSpPr>
        <p:spPr>
          <a:xfrm>
            <a:off x="9006840" y="2377440"/>
            <a:ext cx="2423160" cy="502920"/>
          </a:xfrm>
          <a:prstGeom prst="rect">
            <a:avLst/>
          </a:prstGeom>
          <a:noFill/>
          <a:ln/>
        </p:spPr>
        <p:txBody>
          <a:bodyPr wrap="square" lIns="0" tIns="0" rIns="0" bIns="0" rtlCol="0" anchor="ctr"/>
          <a:lstStyle/>
          <a:p>
            <a:pPr indent="0" marL="0">
              <a:buNone/>
            </a:pPr>
            <a:r>
              <a:rPr lang="en-US" sz="1900" b="1" dirty="0">
                <a:solidFill>
                  <a:schemeClr val="tx1"/>
                </a:solidFill>
              </a:rPr>
              <a:t>CLINICIAN BRIEF</a:t>
            </a:r>
            <a:endParaRPr lang="en-US" sz="1900" dirty="0"/>
          </a:p>
        </p:txBody>
      </p:sp>
      <p:sp>
        <p:nvSpPr>
          <p:cNvPr id="19" name="Text 17"/>
          <p:cNvSpPr txBox="1"/>
          <p:nvPr/>
        </p:nvSpPr>
        <p:spPr>
          <a:xfrm>
            <a:off x="8366760" y="3063240"/>
            <a:ext cx="3017520" cy="1920240"/>
          </a:xfrm>
          <a:prstGeom prst="rect">
            <a:avLst/>
          </a:prstGeom>
          <a:noFill/>
          <a:ln/>
        </p:spPr>
        <p:txBody>
          <a:bodyPr wrap="square" lIns="0" tIns="0" rIns="0" bIns="0" rtlCol="0" anchor="t"/>
          <a:lstStyle/>
          <a:p>
            <a:pPr indent="0" marL="0">
              <a:spcAft>
                <a:spcPts val="1000"/>
              </a:spcAft>
              <a:buNone/>
            </a:pPr>
            <a:r>
              <a:rPr lang="en-US" sz="1400" dirty="0">
                <a:solidFill>
                  <a:schemeClr val="tx1"/>
                </a:solidFill>
              </a:rPr>
              <a:t>Sent: adherence, key measures with numbers, recent reports, care notes and pending approvals, all computed by code.</a:t>
            </a:r>
            <a:endParaRPr lang="en-US" sz="1400" dirty="0"/>
          </a:p>
          <a:p>
            <a:pPr indent="0" marL="0">
              <a:buNone/>
            </a:pPr>
            <a:r>
              <a:rPr lang="en-US" sz="1400" dirty="0">
                <a:solidFill>
                  <a:schemeClr val="tx1"/>
                </a:solidFill>
              </a:rPr>
              <a:t>Back: 4 to 6 lines for the physio, with what the knowledge base says is typical at this stage.</a:t>
            </a:r>
            <a:endParaRPr lang="en-US" sz="1400" dirty="0"/>
          </a:p>
        </p:txBody>
      </p:sp>
      <p:sp>
        <p:nvSpPr>
          <p:cNvPr id="20" name="Text 18"/>
          <p:cNvSpPr txBox="1"/>
          <p:nvPr/>
        </p:nvSpPr>
        <p:spPr>
          <a:xfrm>
            <a:off x="548640" y="5440680"/>
            <a:ext cx="11064240" cy="548640"/>
          </a:xfrm>
          <a:prstGeom prst="rect">
            <a:avLst/>
          </a:prstGeom>
          <a:noFill/>
          <a:ln/>
        </p:spPr>
        <p:txBody>
          <a:bodyPr wrap="square" lIns="0" tIns="0" rIns="0" bIns="0" rtlCol="0" anchor="ctr"/>
          <a:lstStyle/>
          <a:p>
            <a:pPr indent="0" marL="0">
              <a:buNone/>
            </a:pPr>
            <a:r>
              <a:rPr lang="en-US" sz="1500" b="1" dirty="0">
                <a:solidFill>
                  <a:schemeClr val="accent1"/>
                </a:solidFill>
              </a:rPr>
              <a:t>One agent, three modes. </a:t>
            </a:r>
            <a:pPr indent="0" marL="0">
              <a:buNone/>
            </a:pPr>
            <a:r>
              <a:rPr lang="en-US" sz="1500" dirty="0">
                <a:solidFill>
                  <a:schemeClr val="tx1"/>
                </a:solidFill>
              </a:rPr>
              <a:t>The server starts each message with its mode, and Lele's prompt on ADP has a section for each. The same knowledge base grounds all three.</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lIns="0" tIns="0" rIns="0" bIns="0" rtlCol="0" anchor="ctr"/>
          <a:lstStyle/>
          <a:p>
            <a:pPr algn="l" indent="0" marL="0">
              <a:buNone/>
            </a:pPr>
            <a:r>
              <a:rPr lang="en-US" sz="3200" b="1" dirty="0">
                <a:solidFill>
                  <a:schemeClr val="tx1"/>
                </a:solidFill>
              </a:rPr>
              <a:t>Built with</a:t>
            </a:r>
            <a:endParaRPr lang="en-US" sz="3200" dirty="0"/>
          </a:p>
        </p:txBody>
      </p:sp>
      <p:sp>
        <p:nvSpPr>
          <p:cNvPr id="3" name="Column Tencent Cloud and tools"/>
          <p:cNvSpPr/>
          <p:nvPr/>
        </p:nvSpPr>
        <p:spPr>
          <a:xfrm>
            <a:off x="548640" y="1234440"/>
            <a:ext cx="3520440" cy="3840480"/>
          </a:xfrm>
          <a:prstGeom prst="roundRect">
            <a:avLst>
              <a:gd name="adj" fmla="val 3896"/>
            </a:avLst>
          </a:prstGeom>
          <a:solidFill>
            <a:schemeClr val="bg2"/>
          </a:solidFill>
          <a:ln w="9525">
            <a:solidFill>
              <a:srgbClr val="E1E7E3"/>
            </a:solidFill>
            <a:prstDash val="solid"/>
          </a:ln>
        </p:spPr>
      </p:sp>
      <p:sp>
        <p:nvSpPr>
          <p:cNvPr id="4" name="Text 2"/>
          <p:cNvSpPr txBox="1"/>
          <p:nvPr/>
        </p:nvSpPr>
        <p:spPr>
          <a:xfrm>
            <a:off x="822960" y="1417320"/>
            <a:ext cx="3017520" cy="457200"/>
          </a:xfrm>
          <a:prstGeom prst="rect">
            <a:avLst/>
          </a:prstGeom>
          <a:noFill/>
          <a:ln/>
        </p:spPr>
        <p:txBody>
          <a:bodyPr wrap="square" lIns="0" tIns="0" rIns="0" bIns="0" rtlCol="0" anchor="ctr"/>
          <a:lstStyle/>
          <a:p>
            <a:pPr indent="0" marL="0">
              <a:buNone/>
            </a:pPr>
            <a:r>
              <a:rPr lang="en-US" sz="1800" b="1" dirty="0">
                <a:solidFill>
                  <a:schemeClr val="accent1"/>
                </a:solidFill>
              </a:rPr>
              <a:t>Tencent Cloud and tools</a:t>
            </a:r>
            <a:endParaRPr lang="en-US" sz="1800" dirty="0"/>
          </a:p>
        </p:txBody>
      </p:sp>
      <p:sp>
        <p:nvSpPr>
          <p:cNvPr id="5" name="Text 3"/>
          <p:cNvSpPr txBox="1"/>
          <p:nvPr/>
        </p:nvSpPr>
        <p:spPr>
          <a:xfrm>
            <a:off x="822960" y="2011680"/>
            <a:ext cx="3017520" cy="2926080"/>
          </a:xfrm>
          <a:prstGeom prst="rect">
            <a:avLst/>
          </a:prstGeom>
          <a:noFill/>
          <a:ln/>
        </p:spPr>
        <p:txBody>
          <a:bodyPr wrap="square" lIns="0" tIns="0" rIns="0" bIns="0" rtlCol="0" anchor="t"/>
          <a:lstStyle/>
          <a:p>
            <a:pPr indent="0" marL="0">
              <a:buNone/>
            </a:pPr>
            <a:r>
              <a:rPr lang="en-US" sz="1400" b="1" dirty="0">
                <a:solidFill>
                  <a:schemeClr val="tx1"/>
                </a:solidFill>
              </a:rPr>
              <a:t>ADP: </a:t>
            </a:r>
            <a:pPr indent="0" marL="0">
              <a:spcAft>
                <a:spcPts val="1200"/>
              </a:spcAft>
              <a:buNone/>
            </a:pPr>
            <a:r>
              <a:rPr lang="en-US" sz="1400" dirty="0">
                <a:solidFill>
                  <a:schemeClr val="tx1"/>
                </a:solidFill>
              </a:rPr>
              <a:t>Lele on the Hy3 model with a 12-document knowledge base: chat, program drafts, the physio's summary</a:t>
            </a:r>
            <a:endParaRPr lang="en-US" sz="1400" dirty="0"/>
          </a:p>
          <a:p>
            <a:pPr indent="0" marL="0">
              <a:buNone/>
            </a:pPr>
            <a:r>
              <a:rPr lang="en-US" sz="1400" b="1" dirty="0">
                <a:solidFill>
                  <a:schemeClr val="tx1"/>
                </a:solidFill>
              </a:rPr>
              <a:t>Lighthouse: </a:t>
            </a:r>
            <a:pPr indent="0" marL="0">
              <a:spcAft>
                <a:spcPts val="1200"/>
              </a:spcAft>
              <a:buNone/>
            </a:pPr>
            <a:r>
              <a:rPr lang="en-US" sz="1400" dirty="0">
                <a:solidFill>
                  <a:schemeClr val="tx1"/>
                </a:solidFill>
              </a:rPr>
              <a:t>the server, web app and clinician portal (Docker, Caddy, HTTPS)</a:t>
            </a:r>
            <a:endParaRPr lang="en-US" sz="1400" dirty="0"/>
          </a:p>
          <a:p>
            <a:pPr indent="0" marL="0">
              <a:buNone/>
            </a:pPr>
            <a:r>
              <a:rPr lang="en-US" sz="1400" b="1" dirty="0">
                <a:solidFill>
                  <a:schemeClr val="tx1"/>
                </a:solidFill>
              </a:rPr>
              <a:t>CodeBuddy / WorkBuddy: </a:t>
            </a:r>
            <a:pPr indent="0" marL="0">
              <a:spcAft>
                <a:spcPts val="1200"/>
              </a:spcAft>
              <a:buNone/>
            </a:pPr>
            <a:r>
              <a:rPr lang="en-US" sz="1400" dirty="0">
                <a:solidFill>
                  <a:schemeClr val="tx1"/>
                </a:solidFill>
              </a:rPr>
              <a:t>safety and ADP audits; fixes reviewed and merged</a:t>
            </a:r>
            <a:endParaRPr lang="en-US" sz="1400" dirty="0"/>
          </a:p>
          <a:p>
            <a:pPr indent="0" marL="0">
              <a:buNone/>
            </a:pPr>
            <a:r>
              <a:rPr lang="en-US" sz="1400" b="1" dirty="0">
                <a:solidFill>
                  <a:schemeClr val="tx1"/>
                </a:solidFill>
              </a:rPr>
              <a:t>Miora: </a:t>
            </a:r>
            <a:pPr indent="0" marL="0">
              <a:spcAft>
                <a:spcPts val="1200"/>
              </a:spcAft>
              <a:buNone/>
            </a:pPr>
            <a:r>
              <a:rPr lang="en-US" sz="1400" dirty="0">
                <a:solidFill>
                  <a:schemeClr val="tx1"/>
                </a:solidFill>
              </a:rPr>
              <a:t>logo, cover, app icon and the Lele mascot</a:t>
            </a:r>
            <a:endParaRPr lang="en-US" sz="1400" dirty="0"/>
          </a:p>
        </p:txBody>
      </p:sp>
      <p:sp>
        <p:nvSpPr>
          <p:cNvPr id="6" name="Column iPhone and web apps"/>
          <p:cNvSpPr/>
          <p:nvPr/>
        </p:nvSpPr>
        <p:spPr>
          <a:xfrm>
            <a:off x="4320540" y="1234440"/>
            <a:ext cx="3520440" cy="3840480"/>
          </a:xfrm>
          <a:prstGeom prst="roundRect">
            <a:avLst>
              <a:gd name="adj" fmla="val 3896"/>
            </a:avLst>
          </a:prstGeom>
          <a:solidFill>
            <a:schemeClr val="bg2"/>
          </a:solidFill>
          <a:ln w="9525">
            <a:solidFill>
              <a:srgbClr val="E1E7E3"/>
            </a:solidFill>
            <a:prstDash val="solid"/>
          </a:ln>
        </p:spPr>
      </p:sp>
      <p:sp>
        <p:nvSpPr>
          <p:cNvPr id="7" name="Text 5"/>
          <p:cNvSpPr txBox="1"/>
          <p:nvPr/>
        </p:nvSpPr>
        <p:spPr>
          <a:xfrm>
            <a:off x="4594860" y="1417320"/>
            <a:ext cx="3017520" cy="457200"/>
          </a:xfrm>
          <a:prstGeom prst="rect">
            <a:avLst/>
          </a:prstGeom>
          <a:noFill/>
          <a:ln/>
        </p:spPr>
        <p:txBody>
          <a:bodyPr wrap="square" lIns="0" tIns="0" rIns="0" bIns="0" rtlCol="0" anchor="ctr"/>
          <a:lstStyle/>
          <a:p>
            <a:pPr indent="0" marL="0">
              <a:buNone/>
            </a:pPr>
            <a:r>
              <a:rPr lang="en-US" sz="1800" b="1" dirty="0">
                <a:solidFill>
                  <a:schemeClr val="tx1"/>
                </a:solidFill>
              </a:rPr>
              <a:t>iPhone and web apps</a:t>
            </a:r>
            <a:endParaRPr lang="en-US" sz="1800" dirty="0"/>
          </a:p>
        </p:txBody>
      </p:sp>
      <p:sp>
        <p:nvSpPr>
          <p:cNvPr id="8" name="Text 6"/>
          <p:cNvSpPr txBox="1"/>
          <p:nvPr/>
        </p:nvSpPr>
        <p:spPr>
          <a:xfrm>
            <a:off x="4594860" y="2011680"/>
            <a:ext cx="3017520" cy="2926080"/>
          </a:xfrm>
          <a:prstGeom prst="rect">
            <a:avLst/>
          </a:prstGeom>
          <a:noFill/>
          <a:ln/>
        </p:spPr>
        <p:txBody>
          <a:bodyPr wrap="square" lIns="0" tIns="0" rIns="0" bIns="0" rtlCol="0" anchor="t"/>
          <a:lstStyle/>
          <a:p>
            <a:pPr indent="0" marL="0">
              <a:buNone/>
            </a:pPr>
            <a:r>
              <a:rPr lang="en-US" sz="1400" b="1" dirty="0">
                <a:solidFill>
                  <a:schemeClr val="tx1"/>
                </a:solidFill>
              </a:rPr>
              <a:t>Swift 6, SwiftUI: </a:t>
            </a:r>
            <a:pPr indent="0" marL="0">
              <a:spcAft>
                <a:spcPts val="1200"/>
              </a:spcAft>
              <a:buNone/>
            </a:pPr>
            <a:r>
              <a:rPr lang="en-US" sz="1400" dirty="0">
                <a:solidFill>
                  <a:schemeClr val="tx1"/>
                </a:solidFill>
              </a:rPr>
              <a:t>feature modules in LaileKit</a:t>
            </a:r>
            <a:endParaRPr lang="en-US" sz="1400" dirty="0"/>
          </a:p>
          <a:p>
            <a:pPr indent="0" marL="0">
              <a:buNone/>
            </a:pPr>
            <a:r>
              <a:rPr lang="en-US" sz="1400" b="1" dirty="0">
                <a:solidFill>
                  <a:schemeClr val="tx1"/>
                </a:solidFill>
              </a:rPr>
              <a:t>Apple Vision, Speech: </a:t>
            </a:r>
            <a:pPr indent="0" marL="0">
              <a:spcAft>
                <a:spcPts val="1200"/>
              </a:spcAft>
              <a:buNone/>
            </a:pPr>
            <a:r>
              <a:rPr lang="en-US" sz="1400" dirty="0">
                <a:solidFill>
                  <a:schemeClr val="tx1"/>
                </a:solidFill>
              </a:rPr>
              <a:t>body pose for reps, holds and angles; spoken symptoms</a:t>
            </a:r>
            <a:endParaRPr lang="en-US" sz="1400" dirty="0"/>
          </a:p>
          <a:p>
            <a:pPr indent="0" marL="0">
              <a:buNone/>
            </a:pPr>
            <a:r>
              <a:rPr lang="en-US" sz="1400" b="1" dirty="0">
                <a:solidFill>
                  <a:schemeClr val="tx1"/>
                </a:solidFill>
              </a:rPr>
              <a:t>Web app: </a:t>
            </a:r>
            <a:pPr indent="0" marL="0">
              <a:spcAft>
                <a:spcPts val="1200"/>
              </a:spcAft>
              <a:buNone/>
            </a:pPr>
            <a:r>
              <a:rPr lang="en-US" sz="1400" dirty="0">
                <a:solidFill>
                  <a:schemeClr val="tx1"/>
                </a:solidFill>
              </a:rPr>
              <a:t>plain JavaScript, MediaPipe pose, the same API</a:t>
            </a:r>
            <a:endParaRPr lang="en-US" sz="1400" dirty="0"/>
          </a:p>
          <a:p>
            <a:pPr indent="0" marL="0">
              <a:buNone/>
            </a:pPr>
            <a:r>
              <a:rPr lang="en-US" sz="1400" b="1" dirty="0">
                <a:solidFill>
                  <a:schemeClr val="tx1"/>
                </a:solidFill>
              </a:rPr>
              <a:t>ElevenLabs: </a:t>
            </a:r>
            <a:pPr indent="0" marL="0">
              <a:spcAft>
                <a:spcPts val="1200"/>
              </a:spcAft>
              <a:buNone/>
            </a:pPr>
            <a:r>
              <a:rPr lang="en-US" sz="1400" dirty="0">
                <a:solidFill>
                  <a:schemeClr val="tx1"/>
                </a:solidFill>
              </a:rPr>
              <a:t>Lele's voice on phone and web, cached per line</a:t>
            </a:r>
            <a:endParaRPr lang="en-US" sz="1400" dirty="0"/>
          </a:p>
        </p:txBody>
      </p:sp>
      <p:sp>
        <p:nvSpPr>
          <p:cNvPr id="9" name="Column Server and shared code"/>
          <p:cNvSpPr/>
          <p:nvPr/>
        </p:nvSpPr>
        <p:spPr>
          <a:xfrm>
            <a:off x="8092440" y="1234440"/>
            <a:ext cx="3520440" cy="3840480"/>
          </a:xfrm>
          <a:prstGeom prst="roundRect">
            <a:avLst>
              <a:gd name="adj" fmla="val 3896"/>
            </a:avLst>
          </a:prstGeom>
          <a:solidFill>
            <a:schemeClr val="bg2"/>
          </a:solidFill>
          <a:ln w="9525">
            <a:solidFill>
              <a:srgbClr val="E1E7E3"/>
            </a:solidFill>
            <a:prstDash val="solid"/>
          </a:ln>
        </p:spPr>
      </p:sp>
      <p:sp>
        <p:nvSpPr>
          <p:cNvPr id="10" name="Text 8"/>
          <p:cNvSpPr txBox="1"/>
          <p:nvPr/>
        </p:nvSpPr>
        <p:spPr>
          <a:xfrm>
            <a:off x="8366760" y="1417320"/>
            <a:ext cx="3017520" cy="457200"/>
          </a:xfrm>
          <a:prstGeom prst="rect">
            <a:avLst/>
          </a:prstGeom>
          <a:noFill/>
          <a:ln/>
        </p:spPr>
        <p:txBody>
          <a:bodyPr wrap="square" lIns="0" tIns="0" rIns="0" bIns="0" rtlCol="0" anchor="ctr"/>
          <a:lstStyle/>
          <a:p>
            <a:pPr indent="0" marL="0">
              <a:buNone/>
            </a:pPr>
            <a:r>
              <a:rPr lang="en-US" sz="1800" b="1" dirty="0">
                <a:solidFill>
                  <a:schemeClr val="accent2"/>
                </a:solidFill>
              </a:rPr>
              <a:t>Server and shared code</a:t>
            </a:r>
            <a:endParaRPr lang="en-US" sz="1800" dirty="0"/>
          </a:p>
        </p:txBody>
      </p:sp>
      <p:sp>
        <p:nvSpPr>
          <p:cNvPr id="11" name="Text 9"/>
          <p:cNvSpPr txBox="1"/>
          <p:nvPr/>
        </p:nvSpPr>
        <p:spPr>
          <a:xfrm>
            <a:off x="8366760" y="2011680"/>
            <a:ext cx="3017520" cy="2926080"/>
          </a:xfrm>
          <a:prstGeom prst="rect">
            <a:avLst/>
          </a:prstGeom>
          <a:noFill/>
          <a:ln/>
        </p:spPr>
        <p:txBody>
          <a:bodyPr wrap="square" lIns="0" tIns="0" rIns="0" bIns="0" rtlCol="0" anchor="t"/>
          <a:lstStyle/>
          <a:p>
            <a:pPr indent="0" marL="0">
              <a:buNone/>
            </a:pPr>
            <a:r>
              <a:rPr lang="en-US" sz="1400" b="1" dirty="0">
                <a:solidFill>
                  <a:schemeClr val="tx1"/>
                </a:solidFill>
              </a:rPr>
              <a:t>Vapor (Swift): </a:t>
            </a:r>
            <a:pPr indent="0" marL="0">
              <a:spcAft>
                <a:spcPts val="1200"/>
              </a:spcAft>
              <a:buNone/>
            </a:pPr>
            <a:r>
              <a:rPr lang="en-US" sz="1400" dirty="0">
                <a:solidFill>
                  <a:schemeClr val="tx1"/>
                </a:solidFill>
              </a:rPr>
              <a:t>API, Leaf portal, live session view</a:t>
            </a:r>
            <a:endParaRPr lang="en-US" sz="1400" dirty="0"/>
          </a:p>
          <a:p>
            <a:pPr indent="0" marL="0">
              <a:buNone/>
            </a:pPr>
            <a:r>
              <a:rPr lang="en-US" sz="1400" b="1" dirty="0">
                <a:solidFill>
                  <a:schemeClr val="tx1"/>
                </a:solidFill>
              </a:rPr>
              <a:t>Fluent: </a:t>
            </a:r>
            <a:pPr indent="0" marL="0">
              <a:spcAft>
                <a:spcPts val="1200"/>
              </a:spcAft>
              <a:buNone/>
            </a:pPr>
            <a:r>
              <a:rPr lang="en-US" sz="1400" dirty="0">
                <a:solidFill>
                  <a:schemeClr val="tx1"/>
                </a:solidFill>
              </a:rPr>
              <a:t>SQLite, or TencentDB for PostgreSQL</a:t>
            </a:r>
            <a:endParaRPr lang="en-US" sz="1400" dirty="0"/>
          </a:p>
          <a:p>
            <a:pPr indent="0" marL="0">
              <a:buNone/>
            </a:pPr>
            <a:r>
              <a:rPr lang="en-US" sz="1400" b="1" dirty="0">
                <a:solidFill>
                  <a:schemeClr val="tx1"/>
                </a:solidFill>
              </a:rPr>
              <a:t>LaileCore: </a:t>
            </a:r>
            <a:pPr indent="0" marL="0">
              <a:spcAft>
                <a:spcPts val="1200"/>
              </a:spcAft>
              <a:buNone/>
            </a:pPr>
            <a:r>
              <a:rPr lang="en-US" sz="1400" dirty="0">
                <a:solidFill>
                  <a:schemeClr val="tx1"/>
                </a:solidFill>
              </a:rPr>
              <a:t>safety rules, programs, care notes and the session engine, shared by phone and server</a:t>
            </a:r>
            <a:endParaRPr lang="en-US" sz="1400" dirty="0"/>
          </a:p>
          <a:p>
            <a:pPr indent="0" marL="0">
              <a:buNone/>
            </a:pPr>
            <a:r>
              <a:rPr lang="en-US" sz="1400" b="1" dirty="0">
                <a:solidFill>
                  <a:schemeClr val="tx1"/>
                </a:solidFill>
              </a:rPr>
              <a:t>168 automated tests: </a:t>
            </a:r>
            <a:pPr indent="0" marL="0">
              <a:spcAft>
                <a:spcPts val="1200"/>
              </a:spcAft>
              <a:buNone/>
            </a:pPr>
            <a:r>
              <a:rPr lang="en-US" sz="1400" dirty="0">
                <a:solidFill>
                  <a:schemeClr val="tx1"/>
                </a:solidFill>
              </a:rPr>
              <a:t>129 core, 33 server, 6 web</a:t>
            </a:r>
            <a:endParaRPr lang="en-US" sz="1400" dirty="0"/>
          </a:p>
        </p:txBody>
      </p:sp>
      <p:sp>
        <p:nvSpPr>
          <p:cNvPr id="12" name="Links"/>
          <p:cNvSpPr/>
          <p:nvPr/>
        </p:nvSpPr>
        <p:spPr>
          <a:xfrm>
            <a:off x="548640" y="5349240"/>
            <a:ext cx="11064240" cy="685800"/>
          </a:xfrm>
          <a:prstGeom prst="roundRect">
            <a:avLst>
              <a:gd name="adj" fmla="val 16000"/>
            </a:avLst>
          </a:prstGeom>
          <a:solidFill>
            <a:schemeClr val="accent3"/>
          </a:solidFill>
          <a:ln w="12700">
            <a:solidFill>
              <a:schemeClr val="accent3"/>
            </a:solidFill>
            <a:prstDash val="solid"/>
          </a:ln>
        </p:spPr>
      </p:sp>
      <p:sp>
        <p:nvSpPr>
          <p:cNvPr id="13" name="Text 11"/>
          <p:cNvSpPr txBox="1"/>
          <p:nvPr/>
        </p:nvSpPr>
        <p:spPr>
          <a:xfrm>
            <a:off x="777240" y="5349240"/>
            <a:ext cx="10607040" cy="685800"/>
          </a:xfrm>
          <a:prstGeom prst="rect">
            <a:avLst/>
          </a:prstGeom>
          <a:noFill/>
          <a:ln/>
        </p:spPr>
        <p:txBody>
          <a:bodyPr wrap="square" lIns="0" tIns="0" rIns="0" bIns="0" rtlCol="0" anchor="ctr"/>
          <a:lstStyle/>
          <a:p>
            <a:pPr indent="0" marL="0">
              <a:buNone/>
            </a:pPr>
            <a:r>
              <a:rPr lang="en-US" sz="1400" b="1" dirty="0">
                <a:solidFill>
                  <a:schemeClr val="accent1"/>
                </a:solidFill>
              </a:rPr>
              <a:t>Try it: </a:t>
            </a:r>
            <a:pPr indent="0" marL="0">
              <a:buNone/>
            </a:pPr>
            <a:r>
              <a:rPr lang="en-US" sz="1400" dirty="0">
                <a:solidFill>
                  <a:schemeClr val="tx1"/>
                </a:solidFill>
              </a:rPr>
              <a:t>web app 43-156-108-79.sslip.io/app   ·   iPhone testflight.apple.com/join/WuymKzUH   ·   source github.com/LimCharles/laile</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lIns="0" tIns="0" rIns="0" bIns="0" rtlCol="0" anchor="ctr"/>
          <a:lstStyle/>
          <a:p>
            <a:pPr algn="l" indent="0" marL="0">
              <a:buNone/>
            </a:pPr>
            <a:r>
              <a:rPr lang="en-US" sz="3200" b="1" dirty="0">
                <a:solidFill>
                  <a:schemeClr val="tx1"/>
                </a:solidFill>
              </a:rPr>
              <a:t>Key design trade-offs</a:t>
            </a:r>
            <a:endParaRPr lang="en-US" sz="3200" dirty="0"/>
          </a:p>
        </p:txBody>
      </p:sp>
      <p:sp>
        <p:nvSpPr>
          <p:cNvPr id="3" name="Choice 1"/>
          <p:cNvSpPr/>
          <p:nvPr/>
        </p:nvSpPr>
        <p:spPr>
          <a:xfrm>
            <a:off x="548640" y="1234440"/>
            <a:ext cx="3383280" cy="822960"/>
          </a:xfrm>
          <a:prstGeom prst="roundRect">
            <a:avLst>
              <a:gd name="adj" fmla="val 13333"/>
            </a:avLst>
          </a:prstGeom>
          <a:solidFill>
            <a:schemeClr val="accent3"/>
          </a:solidFill>
          <a:ln w="12700">
            <a:solidFill>
              <a:schemeClr val="accent3"/>
            </a:solidFill>
            <a:prstDash val="solid"/>
          </a:ln>
        </p:spPr>
      </p:sp>
      <p:sp>
        <p:nvSpPr>
          <p:cNvPr id="4" name="Text 2"/>
          <p:cNvSpPr txBox="1"/>
          <p:nvPr/>
        </p:nvSpPr>
        <p:spPr>
          <a:xfrm>
            <a:off x="731520" y="1234440"/>
            <a:ext cx="3017520" cy="822960"/>
          </a:xfrm>
          <a:prstGeom prst="rect">
            <a:avLst/>
          </a:prstGeom>
          <a:noFill/>
          <a:ln/>
        </p:spPr>
        <p:txBody>
          <a:bodyPr wrap="square" lIns="0" tIns="0" rIns="0" bIns="0" rtlCol="0" anchor="ctr"/>
          <a:lstStyle/>
          <a:p>
            <a:pPr indent="0" marL="0">
              <a:buNone/>
            </a:pPr>
            <a:r>
              <a:rPr lang="en-US" sz="1500" b="1" dirty="0">
                <a:solidFill>
                  <a:schemeClr val="accent1"/>
                </a:solidFill>
              </a:rPr>
              <a:t>Native iPhone app, web app, Swift server</a:t>
            </a:r>
            <a:endParaRPr lang="en-US" sz="1500" dirty="0"/>
          </a:p>
        </p:txBody>
      </p:sp>
      <p:sp>
        <p:nvSpPr>
          <p:cNvPr id="5" name="Text 3"/>
          <p:cNvSpPr txBox="1"/>
          <p:nvPr/>
        </p:nvSpPr>
        <p:spPr>
          <a:xfrm>
            <a:off x="4206240" y="1234440"/>
            <a:ext cx="7406640" cy="822960"/>
          </a:xfrm>
          <a:prstGeom prst="rect">
            <a:avLst/>
          </a:prstGeom>
          <a:noFill/>
          <a:ln/>
        </p:spPr>
        <p:txBody>
          <a:bodyPr wrap="square" lIns="0" tIns="0" rIns="0" bIns="0" rtlCol="0" anchor="ctr"/>
          <a:lstStyle/>
          <a:p>
            <a:pPr indent="0" marL="0">
              <a:buNone/>
            </a:pPr>
            <a:r>
              <a:rPr lang="en-US" sz="1400" dirty="0">
                <a:solidFill>
                  <a:schemeClr val="tx1"/>
                </a:solidFill>
              </a:rPr>
              <a:t>Native camera performance and one language for the shared logic. The web app covers Android and laptops; its session engine is a JavaScript port tested against the same plan.</a:t>
            </a:r>
            <a:endParaRPr lang="en-US" sz="1400" dirty="0"/>
          </a:p>
        </p:txBody>
      </p:sp>
      <p:sp>
        <p:nvSpPr>
          <p:cNvPr id="6" name="Choice 2"/>
          <p:cNvSpPr/>
          <p:nvPr/>
        </p:nvSpPr>
        <p:spPr>
          <a:xfrm>
            <a:off x="548640" y="2212848"/>
            <a:ext cx="3383280" cy="822960"/>
          </a:xfrm>
          <a:prstGeom prst="roundRect">
            <a:avLst>
              <a:gd name="adj" fmla="val 13333"/>
            </a:avLst>
          </a:prstGeom>
          <a:solidFill>
            <a:schemeClr val="accent3"/>
          </a:solidFill>
          <a:ln w="12700">
            <a:solidFill>
              <a:schemeClr val="accent3"/>
            </a:solidFill>
            <a:prstDash val="solid"/>
          </a:ln>
        </p:spPr>
      </p:sp>
      <p:sp>
        <p:nvSpPr>
          <p:cNvPr id="7" name="Text 5"/>
          <p:cNvSpPr txBox="1"/>
          <p:nvPr/>
        </p:nvSpPr>
        <p:spPr>
          <a:xfrm>
            <a:off x="731520" y="2212848"/>
            <a:ext cx="3017520" cy="822960"/>
          </a:xfrm>
          <a:prstGeom prst="rect">
            <a:avLst/>
          </a:prstGeom>
          <a:noFill/>
          <a:ln/>
        </p:spPr>
        <p:txBody>
          <a:bodyPr wrap="square" lIns="0" tIns="0" rIns="0" bIns="0" rtlCol="0" anchor="ctr"/>
          <a:lstStyle/>
          <a:p>
            <a:pPr indent="0" marL="0">
              <a:buNone/>
            </a:pPr>
            <a:r>
              <a:rPr lang="en-US" sz="1500" b="1" dirty="0">
                <a:solidFill>
                  <a:schemeClr val="accent1"/>
                </a:solidFill>
              </a:rPr>
              <a:t>Pose on the device</a:t>
            </a:r>
            <a:endParaRPr lang="en-US" sz="1500" dirty="0"/>
          </a:p>
        </p:txBody>
      </p:sp>
      <p:sp>
        <p:nvSpPr>
          <p:cNvPr id="8" name="Text 6"/>
          <p:cNvSpPr txBox="1"/>
          <p:nvPr/>
        </p:nvSpPr>
        <p:spPr>
          <a:xfrm>
            <a:off x="4206240" y="2212848"/>
            <a:ext cx="7406640" cy="822960"/>
          </a:xfrm>
          <a:prstGeom prst="rect">
            <a:avLst/>
          </a:prstGeom>
          <a:noFill/>
          <a:ln/>
        </p:spPr>
        <p:txBody>
          <a:bodyPr wrap="square" lIns="0" tIns="0" rIns="0" bIns="0" rtlCol="0" anchor="ctr"/>
          <a:lstStyle/>
          <a:p>
            <a:pPr indent="0" marL="0">
              <a:buNone/>
            </a:pPr>
            <a:r>
              <a:rPr lang="en-US" sz="1400" dirty="0">
                <a:solidFill>
                  <a:schemeClr val="tx1"/>
                </a:solidFill>
              </a:rPr>
              <a:t>No video upload, and the iPhone works offline. Joints are 2D, so angles are estimates for tracking trends, and reports say so.</a:t>
            </a:r>
            <a:endParaRPr lang="en-US" sz="1400" dirty="0"/>
          </a:p>
        </p:txBody>
      </p:sp>
      <p:sp>
        <p:nvSpPr>
          <p:cNvPr id="9" name="Choice 3"/>
          <p:cNvSpPr/>
          <p:nvPr/>
        </p:nvSpPr>
        <p:spPr>
          <a:xfrm>
            <a:off x="548640" y="3191256"/>
            <a:ext cx="3383280" cy="822960"/>
          </a:xfrm>
          <a:prstGeom prst="roundRect">
            <a:avLst>
              <a:gd name="adj" fmla="val 13333"/>
            </a:avLst>
          </a:prstGeom>
          <a:solidFill>
            <a:schemeClr val="accent3"/>
          </a:solidFill>
          <a:ln w="12700">
            <a:solidFill>
              <a:schemeClr val="accent3"/>
            </a:solidFill>
            <a:prstDash val="solid"/>
          </a:ln>
        </p:spPr>
      </p:sp>
      <p:sp>
        <p:nvSpPr>
          <p:cNvPr id="10" name="Text 8"/>
          <p:cNvSpPr txBox="1"/>
          <p:nvPr/>
        </p:nvSpPr>
        <p:spPr>
          <a:xfrm>
            <a:off x="731520" y="3191256"/>
            <a:ext cx="3017520" cy="822960"/>
          </a:xfrm>
          <a:prstGeom prst="rect">
            <a:avLst/>
          </a:prstGeom>
          <a:noFill/>
          <a:ln/>
        </p:spPr>
        <p:txBody>
          <a:bodyPr wrap="square" lIns="0" tIns="0" rIns="0" bIns="0" rtlCol="0" anchor="ctr"/>
          <a:lstStyle/>
          <a:p>
            <a:pPr indent="0" marL="0">
              <a:buNone/>
            </a:pPr>
            <a:r>
              <a:rPr lang="en-US" sz="1500" b="1" dirty="0">
                <a:solidFill>
                  <a:schemeClr val="accent1"/>
                </a:solidFill>
              </a:rPr>
              <a:t>Rules for safety, a model for talk</a:t>
            </a:r>
            <a:endParaRPr lang="en-US" sz="1500" dirty="0"/>
          </a:p>
        </p:txBody>
      </p:sp>
      <p:sp>
        <p:nvSpPr>
          <p:cNvPr id="11" name="Text 9"/>
          <p:cNvSpPr txBox="1"/>
          <p:nvPr/>
        </p:nvSpPr>
        <p:spPr>
          <a:xfrm>
            <a:off x="4206240" y="3191256"/>
            <a:ext cx="7406640" cy="822960"/>
          </a:xfrm>
          <a:prstGeom prst="rect">
            <a:avLst/>
          </a:prstGeom>
          <a:noFill/>
          <a:ln/>
        </p:spPr>
        <p:txBody>
          <a:bodyPr wrap="square" lIns="0" tIns="0" rIns="0" bIns="0" rtlCol="0" anchor="ctr"/>
          <a:lstStyle/>
          <a:p>
            <a:pPr indent="0" marL="0">
              <a:buNone/>
            </a:pPr>
            <a:r>
              <a:rPr lang="en-US" sz="1400" dirty="0">
                <a:solidFill>
                  <a:schemeClr val="tx1"/>
                </a:solidFill>
              </a:rPr>
              <a:t>Predictable, testable safety. Unusual phrasings fall back to a clarifying question instead of a guess.</a:t>
            </a:r>
            <a:endParaRPr lang="en-US" sz="1400" dirty="0"/>
          </a:p>
        </p:txBody>
      </p:sp>
      <p:sp>
        <p:nvSpPr>
          <p:cNvPr id="12" name="Choice 4"/>
          <p:cNvSpPr/>
          <p:nvPr/>
        </p:nvSpPr>
        <p:spPr>
          <a:xfrm>
            <a:off x="548640" y="4169664"/>
            <a:ext cx="3383280" cy="822960"/>
          </a:xfrm>
          <a:prstGeom prst="roundRect">
            <a:avLst>
              <a:gd name="adj" fmla="val 13333"/>
            </a:avLst>
          </a:prstGeom>
          <a:solidFill>
            <a:schemeClr val="accent3"/>
          </a:solidFill>
          <a:ln w="12700">
            <a:solidFill>
              <a:schemeClr val="accent3"/>
            </a:solidFill>
            <a:prstDash val="solid"/>
          </a:ln>
        </p:spPr>
      </p:sp>
      <p:sp>
        <p:nvSpPr>
          <p:cNvPr id="13" name="Text 11"/>
          <p:cNvSpPr txBox="1"/>
          <p:nvPr/>
        </p:nvSpPr>
        <p:spPr>
          <a:xfrm>
            <a:off x="731520" y="4169664"/>
            <a:ext cx="3017520" cy="822960"/>
          </a:xfrm>
          <a:prstGeom prst="rect">
            <a:avLst/>
          </a:prstGeom>
          <a:noFill/>
          <a:ln/>
        </p:spPr>
        <p:txBody>
          <a:bodyPr wrap="square" lIns="0" tIns="0" rIns="0" bIns="0" rtlCol="0" anchor="ctr"/>
          <a:lstStyle/>
          <a:p>
            <a:pPr indent="0" marL="0">
              <a:buNone/>
            </a:pPr>
            <a:r>
              <a:rPr lang="en-US" sz="1500" b="1" dirty="0">
                <a:solidFill>
                  <a:schemeClr val="accent1"/>
                </a:solidFill>
              </a:rPr>
              <a:t>ADP knowledge base</a:t>
            </a:r>
            <a:endParaRPr lang="en-US" sz="1500" dirty="0"/>
          </a:p>
        </p:txBody>
      </p:sp>
      <p:sp>
        <p:nvSpPr>
          <p:cNvPr id="14" name="Text 12"/>
          <p:cNvSpPr txBox="1"/>
          <p:nvPr/>
        </p:nvSpPr>
        <p:spPr>
          <a:xfrm>
            <a:off x="4206240" y="4169664"/>
            <a:ext cx="7406640" cy="822960"/>
          </a:xfrm>
          <a:prstGeom prst="rect">
            <a:avLst/>
          </a:prstGeom>
          <a:noFill/>
          <a:ln/>
        </p:spPr>
        <p:txBody>
          <a:bodyPr wrap="square" lIns="0" tIns="0" rIns="0" bIns="0" rtlCol="0" anchor="ctr"/>
          <a:lstStyle/>
          <a:p>
            <a:pPr indent="0" marL="0">
              <a:buNone/>
            </a:pPr>
            <a:r>
              <a:rPr lang="en-US" sz="1400" dirty="0">
                <a:solidFill>
                  <a:schemeClr val="tx1"/>
                </a:solidFill>
              </a:rPr>
              <a:t>Curated, reviewable content. Its answer template can override the persona, so each message restates Lele's voice and replies are tidied.</a:t>
            </a:r>
            <a:endParaRPr lang="en-US" sz="1400" dirty="0"/>
          </a:p>
        </p:txBody>
      </p:sp>
      <p:sp>
        <p:nvSpPr>
          <p:cNvPr id="15" name="Choice 5"/>
          <p:cNvSpPr/>
          <p:nvPr/>
        </p:nvSpPr>
        <p:spPr>
          <a:xfrm>
            <a:off x="548640" y="5148072"/>
            <a:ext cx="3383280" cy="822960"/>
          </a:xfrm>
          <a:prstGeom prst="roundRect">
            <a:avLst>
              <a:gd name="adj" fmla="val 13333"/>
            </a:avLst>
          </a:prstGeom>
          <a:solidFill>
            <a:schemeClr val="accent3"/>
          </a:solidFill>
          <a:ln w="12700">
            <a:solidFill>
              <a:schemeClr val="accent3"/>
            </a:solidFill>
            <a:prstDash val="solid"/>
          </a:ln>
        </p:spPr>
      </p:sp>
      <p:sp>
        <p:nvSpPr>
          <p:cNvPr id="16" name="Text 14"/>
          <p:cNvSpPr txBox="1"/>
          <p:nvPr/>
        </p:nvSpPr>
        <p:spPr>
          <a:xfrm>
            <a:off x="731520" y="5148072"/>
            <a:ext cx="3017520" cy="822960"/>
          </a:xfrm>
          <a:prstGeom prst="rect">
            <a:avLst/>
          </a:prstGeom>
          <a:noFill/>
          <a:ln/>
        </p:spPr>
        <p:txBody>
          <a:bodyPr wrap="square" lIns="0" tIns="0" rIns="0" bIns="0" rtlCol="0" anchor="ctr"/>
          <a:lstStyle/>
          <a:p>
            <a:pPr indent="0" marL="0">
              <a:buNone/>
            </a:pPr>
            <a:r>
              <a:rPr lang="en-US" sz="1500" b="1" dirty="0">
                <a:solidFill>
                  <a:schemeClr val="accent1"/>
                </a:solidFill>
              </a:rPr>
              <a:t>Server-rendered portal</a:t>
            </a:r>
            <a:endParaRPr lang="en-US" sz="1500" dirty="0"/>
          </a:p>
        </p:txBody>
      </p:sp>
      <p:sp>
        <p:nvSpPr>
          <p:cNvPr id="17" name="Text 15"/>
          <p:cNvSpPr txBox="1"/>
          <p:nvPr/>
        </p:nvSpPr>
        <p:spPr>
          <a:xfrm>
            <a:off x="4206240" y="5148072"/>
            <a:ext cx="7406640" cy="822960"/>
          </a:xfrm>
          <a:prstGeom prst="rect">
            <a:avLst/>
          </a:prstGeom>
          <a:noFill/>
          <a:ln/>
        </p:spPr>
        <p:txBody>
          <a:bodyPr wrap="square" lIns="0" tIns="0" rIns="0" bIns="0" rtlCol="0" anchor="ctr"/>
          <a:lstStyle/>
          <a:p>
            <a:pPr indent="0" marL="0">
              <a:buNone/>
            </a:pPr>
            <a:r>
              <a:rPr lang="en-US" sz="1400" dirty="0">
                <a:solidFill>
                  <a:schemeClr val="tx1"/>
                </a:solidFill>
              </a:rPr>
              <a:t>Fast to build and prints cleanly as a pre-visit report, with no second front-end stack.</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a:t>
            </a:fld>
            <a:endParaRPr lang="en-US"/>
          </a:p>
        </p:txBody>
      </p:sp>
    </p:spTree>
  </p:cSld>
  <p:clrMapOvr>
    <a:masterClrMapping/>
  </p:clrMapOvr>
</p:sld>
</file>

<file path=ppt/theme/theme1.xml><?xml version="1.0" encoding="utf-8"?>
<a:theme xmlns:a="http://schemas.openxmlformats.org/drawingml/2006/main" name="Laile">
  <a:themeElements>
    <a:clrScheme name="Laile">
      <a:dk1>
        <a:srgbClr val="17211C"/>
      </a:dk1>
      <a:lt1>
        <a:srgbClr val="FFFFFF"/>
      </a:lt1>
      <a:dk2>
        <a:srgbClr val="0F8A6A"/>
      </a:dk2>
      <a:lt2>
        <a:srgbClr val="F6F7F5"/>
      </a:lt2>
      <a:accent1>
        <a:srgbClr val="0F8A6A"/>
      </a:accent1>
      <a:accent2>
        <a:srgbClr val="E8930C"/>
      </a:accent2>
      <a:accent3>
        <a:srgbClr val="DFF3EC"/>
      </a:accent3>
      <a:accent4>
        <a:srgbClr val="5D6B63"/>
      </a:accent4>
      <a:accent5>
        <a:srgbClr val="C62828"/>
      </a:accent5>
      <a:accent6>
        <a:srgbClr val="3CC49B"/>
      </a:accent6>
      <a:hlink>
        <a:srgbClr val="0F8A6A"/>
      </a:hlink>
      <a:folHlink>
        <a:srgbClr val="0B6B52"/>
      </a:folHlink>
    </a:clrScheme>
    <a:fontScheme name="Laile">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Laile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Laile architecture</dc:title>
  <dc:subject>PptxGenJS Presentation</dc:subject>
  <dc:creator>Charles Andrew Lim</dc:creator>
  <cp:lastModifiedBy>Charles Andrew Lim</cp:lastModifiedBy>
  <cp:revision>1</cp:revision>
  <dcterms:created xsi:type="dcterms:W3CDTF">2026-10-15T06:08:56Z</dcterms:created>
  <dcterms:modified xsi:type="dcterms:W3CDTF">2026-10-15T06:08:56Z</dcterms:modified>
</cp:coreProperties>
</file>