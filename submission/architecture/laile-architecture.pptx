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027348c8-74c0-805f-694c-7e3bcd8e1ff4}">
          <p14:sldIdLst>
            <p14:sldId id="256"/>
          </p14:sldIdLst>
        </p14:section>
        <p14:section name="Architecture" id="{a3ecb8bd-dde3-6d93-769a-6441cbc99d8c}">
          <p14:sldIdLst>
            <p14:sldId id="257"/>
            <p14:sldId id="258"/>
            <p14:sldId id="259"/>
          </p14:sldIdLst>
        </p14:section>
        <p14:section name="Build" id="{34ea018d-3dba-107b-81dc-cbdcc92470d3}">
          <p14:sldIdLst>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Laile is a home physiotherapy and calisthenics app with a clinician portal. Lele, its coach, is an agent on Tencent Cloud ADP.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stays on the device. Counts, angles and what the person says go to the Laile API on Lighthouse. The safety gate runs before any model. ADP drafts, chats and summarises;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talks; code decides. Every number a physio sees comes from tested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go to the same ADP agent; the server prefixes PLAN REQUEST or CLINICIAN BRIEF and the agent prompt has a section for each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language for the domain logic; the phone and the server run the same LaileCore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choice trades something; these are the ones that shaped Laile.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57400"/>
            <a:ext cx="7680960" cy="118872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429000"/>
            <a:ext cx="7680960" cy="1097280"/>
          </a:xfrm>
          <a:prstGeom prst="rect">
            <a:avLst/>
          </a:prstGeom>
          <a:noFill/>
          <a:ln/>
        </p:spPr>
        <p:txBody>
          <a:bodyPr wrap="square" rtlCol="0"/>
          <a:lstStyle>
            <a:lvl1pPr indent="0" marL="0">
              <a:buNone/>
              <a:defRPr lang="en-US" sz="2000" dirty="0">
                <a:solidFill>
                  <a:schemeClr val="accent3"/>
                </a:solidFill>
              </a:defRPr>
            </a:lvl1pPr>
          </a:lstStyle>
          <a:p>
            <a:pPr indent="0" marL="0">
              <a:buNone/>
            </a:pPr>
            <a:endParaRPr lang="en-US" sz="2000" dirty="0"/>
          </a:p>
        </p:txBody>
      </p:sp>
      <p:sp>
        <p:nvSpPr>
          <p:cNvPr id="4" name="Text 0"/>
          <p:cNvSpPr/>
          <p:nvPr>
            <p:ph idx="102" type="body" hasCustomPrompt="1"/>
          </p:nvPr>
        </p:nvSpPr>
        <p:spPr>
          <a:xfrm>
            <a:off x="731520" y="5715000"/>
            <a:ext cx="10698480" cy="548640"/>
          </a:xfrm>
          <a:prstGeom prst="rect">
            <a:avLst/>
          </a:prstGeom>
          <a:noFill/>
          <a:ln/>
        </p:spPr>
        <p:txBody>
          <a:bodyPr wrap="square" rtlCol="0"/>
          <a:lstStyle>
            <a:lvl1pPr indent="0" marL="0">
              <a:buNone/>
              <a:defRPr lang="en-US" sz="1200" dirty="0">
                <a:solidFill>
                  <a:schemeClr val="accent3"/>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Laile  ·  Tencent Cloud AI CAN DO IT Hackathon Singapore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57400"/>
            <a:ext cx="7680960" cy="1188720"/>
          </a:xfrm>
          <a:prstGeom prst="rect">
            <a:avLst/>
          </a:prstGeom>
          <a:noFill/>
          <a:ln/>
        </p:spPr>
        <p:txBody>
          <a:bodyPr wrap="square" lIns="0" tIns="0" rIns="0" bIns="0" rtlCol="0" anchor="b"/>
          <a:lstStyle/>
          <a:p>
            <a:pPr algn="l" indent="0" marL="0">
              <a:buNone/>
            </a:pPr>
            <a:r>
              <a:rPr lang="en-US" sz="4800" b="1" dirty="0">
                <a:solidFill>
                  <a:schemeClr val="bg1"/>
                </a:solidFill>
              </a:rPr>
              <a:t>Laile architecture</a:t>
            </a:r>
            <a:endParaRPr lang="en-US" sz="4800" dirty="0"/>
          </a:p>
        </p:txBody>
      </p:sp>
      <p:sp>
        <p:nvSpPr>
          <p:cNvPr id="3" name="Text 0"/>
          <p:cNvSpPr/>
          <p:nvPr>
            <p:ph idx="101" type="body" hasCustomPrompt="1"/>
          </p:nvPr>
        </p:nvSpPr>
        <p:spPr>
          <a:xfrm>
            <a:off x="731520" y="3429000"/>
            <a:ext cx="7680960" cy="1097280"/>
          </a:xfrm>
          <a:prstGeom prst="rect">
            <a:avLst/>
          </a:prstGeom>
          <a:noFill/>
          <a:ln/>
        </p:spPr>
        <p:txBody>
          <a:bodyPr wrap="square" lIns="0" tIns="0" rIns="0" bIns="0" rtlCol="0" anchor="t"/>
          <a:lstStyle/>
          <a:p>
            <a:pPr indent="0" marL="0">
              <a:buNone/>
            </a:pPr>
            <a:r>
              <a:rPr lang="en-US" sz="2000" dirty="0">
                <a:solidFill>
                  <a:schemeClr val="accent3"/>
                </a:solidFill>
              </a:rPr>
              <a:t>Home physio that counts every rep and checks in. How it is built, where the trust boundary sits, and why.</a:t>
            </a:r>
            <a:endParaRPr lang="en-US" sz="2000" dirty="0"/>
          </a:p>
        </p:txBody>
      </p:sp>
      <p:sp>
        <p:nvSpPr>
          <p:cNvPr id="4" name="Text 0"/>
          <p:cNvSpPr/>
          <p:nvPr>
            <p:ph idx="102" type="body" hasCustomPrompt="1"/>
          </p:nvPr>
        </p:nvSpPr>
        <p:spPr>
          <a:xfrm>
            <a:off x="731520" y="5715000"/>
            <a:ext cx="10698480" cy="548640"/>
          </a:xfrm>
          <a:prstGeom prst="rect">
            <a:avLst/>
          </a:prstGeom>
          <a:noFill/>
          <a:ln/>
        </p:spPr>
        <p:txBody>
          <a:bodyPr wrap="square" lIns="0" tIns="0" rIns="0" bIns="0" rtlCol="0" anchor="b"/>
          <a:lstStyle/>
          <a:p>
            <a:pPr indent="0" marL="0">
              <a:buNone/>
            </a:pPr>
            <a:r>
              <a:rPr lang="en-US" sz="1200" dirty="0">
                <a:solidFill>
                  <a:schemeClr val="accent3"/>
                </a:solidFill>
              </a:rPr>
              <a:t>github.com/LimCharles/laile   ·   43-156-108-79.sslip.io   ·   Charles Andrew Lim, Healthcare track, Challenge Statement 2</a:t>
            </a:r>
            <a:endParaRPr lang="en-US" sz="1200" dirty="0"/>
          </a:p>
        </p:txBody>
      </p:sp>
      <p:pic>
        <p:nvPicPr>
          <p:cNvPr id="5" name="App icon" descr="Laile app icon: the 乐 mark">    </p:cNvPr>
          <p:cNvPicPr>
            <a:picLocks noChangeAspect="1"/>
          </p:cNvPicPr>
          <p:nvPr/>
        </p:nvPicPr>
        <p:blipFill>
          <a:blip r:embed="rId1"/>
          <a:stretch>
            <a:fillRect/>
          </a:stretch>
        </p:blipFill>
        <p:spPr>
          <a:xfrm>
            <a:off x="9006840" y="1691640"/>
            <a:ext cx="2514600" cy="2514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Architecture and trust boundary</a:t>
            </a:r>
            <a:endParaRPr lang="en-US" sz="3200" dirty="0"/>
          </a:p>
        </p:txBody>
      </p:sp>
      <p:pic>
        <p:nvPicPr>
          <p:cNvPr id="3" name="Architecture diagram" descr="Patient phone or browser, Laile API on Tencent Cloud, models on ADP and ElevenLabs, and the clinician portal">    </p:cNvPr>
          <p:cNvPicPr>
            <a:picLocks noChangeAspect="1"/>
          </p:cNvPicPr>
          <p:nvPr/>
        </p:nvPicPr>
        <p:blipFill>
          <a:blip r:embed="rId1"/>
          <a:stretch>
            <a:fillRect/>
          </a:stretch>
        </p:blipFill>
        <p:spPr>
          <a:xfrm>
            <a:off x="700888" y="1188720"/>
            <a:ext cx="10789920" cy="5059604"/>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How the AI is used, and kept safe</a:t>
            </a:r>
            <a:endParaRPr lang="en-US" sz="3200" dirty="0"/>
          </a:p>
        </p:txBody>
      </p:sp>
      <p:graphicFrame>
        <p:nvGraphicFramePr>
          <p:cNvPr id="4" name="AI and safety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651760"/>
                <a:gridCol w="3566160"/>
                <a:gridCol w="4846320"/>
              </a:tblGrid>
              <a:tr h="566928">
                <a:tc>
                  <a:txBody>
                    <a:bodyPr/>
                    <a:lstStyle/>
                    <a:p>
                      <a:pPr indent="0" marL="0">
                        <a:buNone/>
                      </a:pPr>
                      <a:r>
                        <a:rPr lang="en-US" sz="1400" b="1" dirty="0">
                          <a:solidFill>
                            <a:schemeClr val="bg1"/>
                          </a:solidFill>
                        </a:rPr>
                        <a:t>Job</a:t>
                      </a:r>
                      <a:endParaRPr lang="en-US" sz="14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Done by</a:t>
                      </a:r>
                      <a:endParaRPr lang="en-US" sz="14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Kept safe by</a:t>
                      </a:r>
                      <a:endParaRPr lang="en-US" sz="14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accent1"/>
                    </a:solidFill>
                  </a:tcPr>
                </a:tc>
              </a:tr>
              <a:tr h="566928">
                <a:tc>
                  <a:txBody>
                    <a:bodyPr/>
                    <a:lstStyle/>
                    <a:p>
                      <a:pPr indent="0" marL="0">
                        <a:buNone/>
                      </a:pPr>
                      <a:r>
                        <a:rPr lang="en-US" sz="1300" b="1" dirty="0">
                          <a:solidFill>
                            <a:schemeClr val="tx1"/>
                          </a:solidFill>
                        </a:rPr>
                        <a:t>Conversation and explanations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Lele on Tencent Cloud ADP (Hy3, 12-document knowledge base)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Real numbers sent with every message; red flags and dose questions answered by rules first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Program drafts and revisions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Lele on ADP, PLAN REQUEST mode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Vetted exercise library only; contraindication checker; physio signs or approves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The physio's brief</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Lele on ADP, CLINICIAN BRIEF mode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Every number and flag is computed by code and passed in</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Planning by chat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Five questions in code, then an ADP draft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supervised patient's plan waits for the physio's yes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Remembering what hurt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Care notes (CareMemory)</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Easing computed by code; the physio sees every note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Mid-session safety</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Symptom rules, red flags, "make it easier"</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physio's pain limits decide; never below half the range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Seeing movement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Apple Vision (iPhone), MediaPipe (browser)</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Video stays on the device; no count without a clear view</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How prompts drive Lele</a:t>
            </a:r>
            <a:endParaRPr lang="en-US" sz="3200" dirty="0"/>
          </a:p>
        </p:txBody>
      </p:sp>
      <p:sp>
        <p:nvSpPr>
          <p:cNvPr id="3" name="Rules first banner"/>
          <p:cNvSpPr/>
          <p:nvPr/>
        </p:nvSpPr>
        <p:spPr>
          <a:xfrm>
            <a:off x="548640" y="1188720"/>
            <a:ext cx="11064240" cy="685800"/>
          </a:xfrm>
          <a:prstGeom prst="roundRect">
            <a:avLst>
              <a:gd name="adj" fmla="val 16000"/>
            </a:avLst>
          </a:prstGeom>
          <a:solidFill>
            <a:schemeClr val="accent3"/>
          </a:solidFill>
          <a:ln w="12700">
            <a:solidFill>
              <a:schemeClr val="accent3"/>
            </a:solidFill>
            <a:prstDash val="solid"/>
          </a:ln>
        </p:spPr>
      </p:sp>
      <p:sp>
        <p:nvSpPr>
          <p:cNvPr id="4" name="Text 2"/>
          <p:cNvSpPr txBox="1"/>
          <p:nvPr/>
        </p:nvSpPr>
        <p:spPr>
          <a:xfrm>
            <a:off x="777240" y="1188720"/>
            <a:ext cx="10607040" cy="685800"/>
          </a:xfrm>
          <a:prstGeom prst="rect">
            <a:avLst/>
          </a:prstGeom>
          <a:noFill/>
          <a:ln/>
        </p:spPr>
        <p:txBody>
          <a:bodyPr wrap="square" lIns="0" tIns="0" rIns="0" bIns="0" rtlCol="0" anchor="ctr"/>
          <a:lstStyle/>
          <a:p>
            <a:pPr indent="0" marL="0">
              <a:buNone/>
            </a:pPr>
            <a:r>
              <a:rPr lang="en-US" sz="1500" b="1" dirty="0">
                <a:solidFill>
                  <a:schemeClr val="accent1"/>
                </a:solidFill>
              </a:rPr>
              <a:t>Rules first. </a:t>
            </a:r>
            <a:pPr indent="0" marL="0">
              <a:buNone/>
            </a:pPr>
            <a:r>
              <a:rPr lang="en-US" sz="1500" dirty="0">
                <a:solidFill>
                  <a:schemeClr val="tx1"/>
                </a:solidFill>
              </a:rPr>
              <a:t>Red flags, medicine dose questions and pain limits are answered by tested code before any model sees a message.</a:t>
            </a:r>
            <a:endParaRPr lang="en-US" sz="1500" dirty="0"/>
          </a:p>
        </p:txBody>
      </p:sp>
      <p:sp>
        <p:nvSpPr>
          <p:cNvPr id="5" name="Card Chat"/>
          <p:cNvSpPr/>
          <p:nvPr/>
        </p:nvSpPr>
        <p:spPr>
          <a:xfrm>
            <a:off x="548640" y="2148840"/>
            <a:ext cx="3520440" cy="2971800"/>
          </a:xfrm>
          <a:prstGeom prst="roundRect">
            <a:avLst>
              <a:gd name="adj" fmla="val 4615"/>
            </a:avLst>
          </a:prstGeom>
          <a:solidFill>
            <a:schemeClr val="bg2"/>
          </a:solidFill>
          <a:ln w="9525">
            <a:solidFill>
              <a:srgbClr val="E1E7E3"/>
            </a:solidFill>
            <a:prstDash val="solid"/>
          </a:ln>
        </p:spPr>
      </p:sp>
      <p:sp>
        <p:nvSpPr>
          <p:cNvPr id="6" name="Step 1"/>
          <p:cNvSpPr/>
          <p:nvPr/>
        </p:nvSpPr>
        <p:spPr>
          <a:xfrm>
            <a:off x="822960" y="237744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822960" y="23774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1463040" y="2377440"/>
            <a:ext cx="2423160" cy="502920"/>
          </a:xfrm>
          <a:prstGeom prst="rect">
            <a:avLst/>
          </a:prstGeom>
          <a:noFill/>
          <a:ln/>
        </p:spPr>
        <p:txBody>
          <a:bodyPr wrap="square" lIns="0" tIns="0" rIns="0" bIns="0" rtlCol="0" anchor="ctr"/>
          <a:lstStyle/>
          <a:p>
            <a:pPr indent="0" marL="0">
              <a:buNone/>
            </a:pPr>
            <a:r>
              <a:rPr lang="en-US" sz="1900" b="1" dirty="0">
                <a:solidFill>
                  <a:schemeClr val="tx1"/>
                </a:solidFill>
              </a:rPr>
              <a:t>Chat</a:t>
            </a:r>
            <a:endParaRPr lang="en-US" sz="1900" dirty="0"/>
          </a:p>
        </p:txBody>
      </p:sp>
      <p:sp>
        <p:nvSpPr>
          <p:cNvPr id="9" name="Text 7"/>
          <p:cNvSpPr txBox="1"/>
          <p:nvPr/>
        </p:nvSpPr>
        <p:spPr>
          <a:xfrm>
            <a:off x="822960" y="3063240"/>
            <a:ext cx="3017520" cy="19202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Sent: the person's program, goals, measurements, last session and care notes, then the question and a reminder of Lele's voice.</a:t>
            </a:r>
            <a:endParaRPr lang="en-US" sz="1400" dirty="0"/>
          </a:p>
          <a:p>
            <a:pPr indent="0" marL="0">
              <a:buNone/>
            </a:pPr>
            <a:r>
              <a:rPr lang="en-US" sz="1400" dirty="0">
                <a:solidFill>
                  <a:schemeClr val="tx1"/>
                </a:solidFill>
              </a:rPr>
              <a:t>Back: a reply in Lele's voice, under 120 words, quoting real numbers. A "remember" line becomes a care note only after code checks it.</a:t>
            </a:r>
            <a:endParaRPr lang="en-US" sz="1400" dirty="0"/>
          </a:p>
        </p:txBody>
      </p:sp>
      <p:sp>
        <p:nvSpPr>
          <p:cNvPr id="10" name="Card PLAN REQUEST"/>
          <p:cNvSpPr/>
          <p:nvPr/>
        </p:nvSpPr>
        <p:spPr>
          <a:xfrm>
            <a:off x="4320540" y="2148840"/>
            <a:ext cx="3520440" cy="2971800"/>
          </a:xfrm>
          <a:prstGeom prst="roundRect">
            <a:avLst>
              <a:gd name="adj" fmla="val 4615"/>
            </a:avLst>
          </a:prstGeom>
          <a:solidFill>
            <a:schemeClr val="bg2"/>
          </a:solidFill>
          <a:ln w="9525">
            <a:solidFill>
              <a:srgbClr val="E1E7E3"/>
            </a:solidFill>
            <a:prstDash val="solid"/>
          </a:ln>
        </p:spPr>
      </p:sp>
      <p:sp>
        <p:nvSpPr>
          <p:cNvPr id="11" name="Step 2"/>
          <p:cNvSpPr/>
          <p:nvPr/>
        </p:nvSpPr>
        <p:spPr>
          <a:xfrm>
            <a:off x="4594860" y="2377440"/>
            <a:ext cx="502920" cy="502920"/>
          </a:xfrm>
          <a:prstGeom prst="ellipse">
            <a:avLst/>
          </a:prstGeom>
          <a:solidFill>
            <a:schemeClr val="accent1"/>
          </a:solidFill>
          <a:ln w="12700">
            <a:solidFill>
              <a:schemeClr val="accent1"/>
            </a:solidFill>
            <a:prstDash val="solid"/>
          </a:ln>
        </p:spPr>
      </p:sp>
      <p:sp>
        <p:nvSpPr>
          <p:cNvPr id="12" name="Text 10"/>
          <p:cNvSpPr txBox="1"/>
          <p:nvPr/>
        </p:nvSpPr>
        <p:spPr>
          <a:xfrm>
            <a:off x="4594860" y="23774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5234940" y="2377440"/>
            <a:ext cx="2423160" cy="502920"/>
          </a:xfrm>
          <a:prstGeom prst="rect">
            <a:avLst/>
          </a:prstGeom>
          <a:noFill/>
          <a:ln/>
        </p:spPr>
        <p:txBody>
          <a:bodyPr wrap="square" lIns="0" tIns="0" rIns="0" bIns="0" rtlCol="0" anchor="ctr"/>
          <a:lstStyle/>
          <a:p>
            <a:pPr indent="0" marL="0">
              <a:buNone/>
            </a:pPr>
            <a:r>
              <a:rPr lang="en-US" sz="1900" b="1" dirty="0">
                <a:solidFill>
                  <a:schemeClr val="tx1"/>
                </a:solidFill>
              </a:rPr>
              <a:t>PLAN REQUEST</a:t>
            </a:r>
            <a:endParaRPr lang="en-US" sz="1900" dirty="0"/>
          </a:p>
        </p:txBody>
      </p:sp>
      <p:sp>
        <p:nvSpPr>
          <p:cNvPr id="14" name="Text 12"/>
          <p:cNvSpPr txBox="1"/>
          <p:nvPr/>
        </p:nvSpPr>
        <p:spPr>
          <a:xfrm>
            <a:off x="4594860" y="3063240"/>
            <a:ext cx="3017520" cy="19202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Sent: goals, minutes a day, experience, areas to protect, the physio's precautions, and the only exercise ids allowed.</a:t>
            </a:r>
            <a:endParaRPr lang="en-US" sz="1400" dirty="0"/>
          </a:p>
          <a:p>
            <a:pPr indent="0" marL="0">
              <a:buNone/>
            </a:pPr>
            <a:r>
              <a:rPr lang="en-US" sz="1400" dirty="0">
                <a:solidFill>
                  <a:schemeClr val="tx1"/>
                </a:solidFill>
              </a:rPr>
              <a:t>Back: a JSON draft, then a schema check and the contraindication checker. A physio patient's plan waits for approval.</a:t>
            </a:r>
            <a:endParaRPr lang="en-US" sz="1400" dirty="0"/>
          </a:p>
        </p:txBody>
      </p:sp>
      <p:sp>
        <p:nvSpPr>
          <p:cNvPr id="15" name="Card CLINICIAN BRIEF"/>
          <p:cNvSpPr/>
          <p:nvPr/>
        </p:nvSpPr>
        <p:spPr>
          <a:xfrm>
            <a:off x="8092440" y="2148840"/>
            <a:ext cx="3520440" cy="2971800"/>
          </a:xfrm>
          <a:prstGeom prst="roundRect">
            <a:avLst>
              <a:gd name="adj" fmla="val 4615"/>
            </a:avLst>
          </a:prstGeom>
          <a:solidFill>
            <a:schemeClr val="bg2"/>
          </a:solidFill>
          <a:ln w="9525">
            <a:solidFill>
              <a:srgbClr val="E1E7E3"/>
            </a:solidFill>
            <a:prstDash val="solid"/>
          </a:ln>
        </p:spPr>
      </p:sp>
      <p:sp>
        <p:nvSpPr>
          <p:cNvPr id="16" name="Step 3"/>
          <p:cNvSpPr/>
          <p:nvPr/>
        </p:nvSpPr>
        <p:spPr>
          <a:xfrm>
            <a:off x="8366760" y="2377440"/>
            <a:ext cx="502920" cy="502920"/>
          </a:xfrm>
          <a:prstGeom prst="ellipse">
            <a:avLst/>
          </a:prstGeom>
          <a:solidFill>
            <a:schemeClr val="accent1"/>
          </a:solidFill>
          <a:ln w="12700">
            <a:solidFill>
              <a:schemeClr val="accent1"/>
            </a:solidFill>
            <a:prstDash val="solid"/>
          </a:ln>
        </p:spPr>
      </p:sp>
      <p:sp>
        <p:nvSpPr>
          <p:cNvPr id="17" name="Text 15"/>
          <p:cNvSpPr txBox="1"/>
          <p:nvPr/>
        </p:nvSpPr>
        <p:spPr>
          <a:xfrm>
            <a:off x="8366760" y="23774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6"/>
          <p:cNvSpPr txBox="1"/>
          <p:nvPr/>
        </p:nvSpPr>
        <p:spPr>
          <a:xfrm>
            <a:off x="9006840" y="2377440"/>
            <a:ext cx="2423160" cy="502920"/>
          </a:xfrm>
          <a:prstGeom prst="rect">
            <a:avLst/>
          </a:prstGeom>
          <a:noFill/>
          <a:ln/>
        </p:spPr>
        <p:txBody>
          <a:bodyPr wrap="square" lIns="0" tIns="0" rIns="0" bIns="0" rtlCol="0" anchor="ctr"/>
          <a:lstStyle/>
          <a:p>
            <a:pPr indent="0" marL="0">
              <a:buNone/>
            </a:pPr>
            <a:r>
              <a:rPr lang="en-US" sz="1900" b="1" dirty="0">
                <a:solidFill>
                  <a:schemeClr val="tx1"/>
                </a:solidFill>
              </a:rPr>
              <a:t>CLINICIAN BRIEF</a:t>
            </a:r>
            <a:endParaRPr lang="en-US" sz="1900" dirty="0"/>
          </a:p>
        </p:txBody>
      </p:sp>
      <p:sp>
        <p:nvSpPr>
          <p:cNvPr id="19" name="Text 17"/>
          <p:cNvSpPr txBox="1"/>
          <p:nvPr/>
        </p:nvSpPr>
        <p:spPr>
          <a:xfrm>
            <a:off x="8366760" y="3063240"/>
            <a:ext cx="3017520" cy="19202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Sent: adherence, key measures with numbers, recent reports, care notes and pending approvals, all computed by code.</a:t>
            </a:r>
            <a:endParaRPr lang="en-US" sz="1400" dirty="0"/>
          </a:p>
          <a:p>
            <a:pPr indent="0" marL="0">
              <a:buNone/>
            </a:pPr>
            <a:r>
              <a:rPr lang="en-US" sz="1400" dirty="0">
                <a:solidFill>
                  <a:schemeClr val="tx1"/>
                </a:solidFill>
              </a:rPr>
              <a:t>Back: 4 to 6 lines for the physio, with what the knowledge base says is typical at this stage.</a:t>
            </a:r>
            <a:endParaRPr lang="en-US" sz="1400" dirty="0"/>
          </a:p>
        </p:txBody>
      </p:sp>
      <p:sp>
        <p:nvSpPr>
          <p:cNvPr id="20" name="Text 18"/>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1500" b="1" dirty="0">
                <a:solidFill>
                  <a:schemeClr val="accent1"/>
                </a:solidFill>
              </a:rPr>
              <a:t>One agent, three modes. </a:t>
            </a:r>
            <a:pPr indent="0" marL="0">
              <a:buNone/>
            </a:pPr>
            <a:r>
              <a:rPr lang="en-US" sz="1500" dirty="0">
                <a:solidFill>
                  <a:schemeClr val="tx1"/>
                </a:solidFill>
              </a:rPr>
              <a:t>The server starts each message with its mode, and Lele's prompt on ADP has a section for each. The same knowledge base grounds all three.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Built with</a:t>
            </a:r>
            <a:endParaRPr lang="en-US" sz="3200" dirty="0"/>
          </a:p>
        </p:txBody>
      </p:sp>
      <p:sp>
        <p:nvSpPr>
          <p:cNvPr id="3" name="Column Tencent Cloud and tools"/>
          <p:cNvSpPr/>
          <p:nvPr/>
        </p:nvSpPr>
        <p:spPr>
          <a:xfrm>
            <a:off x="548640" y="1234440"/>
            <a:ext cx="3520440" cy="3840480"/>
          </a:xfrm>
          <a:prstGeom prst="roundRect">
            <a:avLst>
              <a:gd name="adj" fmla="val 3896"/>
            </a:avLst>
          </a:prstGeom>
          <a:solidFill>
            <a:schemeClr val="bg2"/>
          </a:solidFill>
          <a:ln w="9525">
            <a:solidFill>
              <a:srgbClr val="E1E7E3"/>
            </a:solidFill>
            <a:prstDash val="solid"/>
          </a:ln>
        </p:spPr>
      </p:sp>
      <p:sp>
        <p:nvSpPr>
          <p:cNvPr id="4" name="Text 2"/>
          <p:cNvSpPr txBox="1"/>
          <p:nvPr/>
        </p:nvSpPr>
        <p:spPr>
          <a:xfrm>
            <a:off x="822960" y="1417320"/>
            <a:ext cx="3017520" cy="457200"/>
          </a:xfrm>
          <a:prstGeom prst="rect">
            <a:avLst/>
          </a:prstGeom>
          <a:noFill/>
          <a:ln/>
        </p:spPr>
        <p:txBody>
          <a:bodyPr wrap="square" lIns="0" tIns="0" rIns="0" bIns="0" rtlCol="0" anchor="ctr"/>
          <a:lstStyle/>
          <a:p>
            <a:pPr indent="0" marL="0">
              <a:buNone/>
            </a:pPr>
            <a:r>
              <a:rPr lang="en-US" sz="1800" b="1" dirty="0">
                <a:solidFill>
                  <a:schemeClr val="accent1"/>
                </a:solidFill>
              </a:rPr>
              <a:t>Tencent Cloud and tools</a:t>
            </a:r>
            <a:endParaRPr lang="en-US" sz="1800" dirty="0"/>
          </a:p>
        </p:txBody>
      </p:sp>
      <p:sp>
        <p:nvSpPr>
          <p:cNvPr id="5" name="Text 3"/>
          <p:cNvSpPr txBox="1"/>
          <p:nvPr/>
        </p:nvSpPr>
        <p:spPr>
          <a:xfrm>
            <a:off x="822960" y="2011680"/>
            <a:ext cx="3017520" cy="2926080"/>
          </a:xfrm>
          <a:prstGeom prst="rect">
            <a:avLst/>
          </a:prstGeom>
          <a:noFill/>
          <a:ln/>
        </p:spPr>
        <p:txBody>
          <a:bodyPr wrap="square" lIns="0" tIns="0" rIns="0" bIns="0" rtlCol="0" anchor="t"/>
          <a:lstStyle/>
          <a:p>
            <a:pPr indent="0" marL="0">
              <a:buNone/>
            </a:pPr>
            <a:r>
              <a:rPr lang="en-US" sz="1400" b="1" dirty="0">
                <a:solidFill>
                  <a:schemeClr val="tx1"/>
                </a:solidFill>
              </a:rPr>
              <a:t>ADP: </a:t>
            </a:r>
            <a:pPr indent="0" marL="0">
              <a:spcAft>
                <a:spcPts val="1200"/>
              </a:spcAft>
              <a:buNone/>
            </a:pPr>
            <a:r>
              <a:rPr lang="en-US" sz="1400" dirty="0">
                <a:solidFill>
                  <a:schemeClr val="tx1"/>
                </a:solidFill>
              </a:rPr>
              <a:t>Lele on the Hy3 model with a 12-document knowledge base: chat, program drafts, the physio's summary</a:t>
            </a:r>
            <a:endParaRPr lang="en-US" sz="1400" dirty="0"/>
          </a:p>
          <a:p>
            <a:pPr indent="0" marL="0">
              <a:buNone/>
            </a:pPr>
            <a:r>
              <a:rPr lang="en-US" sz="1400" b="1" dirty="0">
                <a:solidFill>
                  <a:schemeClr val="tx1"/>
                </a:solidFill>
              </a:rPr>
              <a:t>Lighthouse: </a:t>
            </a:r>
            <a:pPr indent="0" marL="0">
              <a:spcAft>
                <a:spcPts val="1200"/>
              </a:spcAft>
              <a:buNone/>
            </a:pPr>
            <a:r>
              <a:rPr lang="en-US" sz="1400" dirty="0">
                <a:solidFill>
                  <a:schemeClr val="tx1"/>
                </a:solidFill>
              </a:rPr>
              <a:t>the server, web app and clinician portal (Docker, Caddy, HTTPS)</a:t>
            </a:r>
            <a:endParaRPr lang="en-US" sz="1400" dirty="0"/>
          </a:p>
          <a:p>
            <a:pPr indent="0" marL="0">
              <a:buNone/>
            </a:pPr>
            <a:r>
              <a:rPr lang="en-US" sz="1400" b="1" dirty="0">
                <a:solidFill>
                  <a:schemeClr val="tx1"/>
                </a:solidFill>
              </a:rPr>
              <a:t>CodeBuddy / WorkBuddy: </a:t>
            </a:r>
            <a:pPr indent="0" marL="0">
              <a:spcAft>
                <a:spcPts val="1200"/>
              </a:spcAft>
              <a:buNone/>
            </a:pPr>
            <a:r>
              <a:rPr lang="en-US" sz="1400" dirty="0">
                <a:solidFill>
                  <a:schemeClr val="tx1"/>
                </a:solidFill>
              </a:rPr>
              <a:t>safety and ADP audits; fixes reviewed and merged</a:t>
            </a:r>
            <a:endParaRPr lang="en-US" sz="1400" dirty="0"/>
          </a:p>
          <a:p>
            <a:pPr indent="0" marL="0">
              <a:buNone/>
            </a:pPr>
            <a:r>
              <a:rPr lang="en-US" sz="1400" b="1" dirty="0">
                <a:solidFill>
                  <a:schemeClr val="tx1"/>
                </a:solidFill>
              </a:rPr>
              <a:t>Miora: </a:t>
            </a:r>
            <a:pPr indent="0" marL="0">
              <a:spcAft>
                <a:spcPts val="1200"/>
              </a:spcAft>
              <a:buNone/>
            </a:pPr>
            <a:r>
              <a:rPr lang="en-US" sz="1400" dirty="0">
                <a:solidFill>
                  <a:schemeClr val="tx1"/>
                </a:solidFill>
              </a:rPr>
              <a:t>logo, cover, app icon and the Lele mascot</a:t>
            </a:r>
            <a:endParaRPr lang="en-US" sz="1400" dirty="0"/>
          </a:p>
        </p:txBody>
      </p:sp>
      <p:sp>
        <p:nvSpPr>
          <p:cNvPr id="6" name="Column iPhone and web apps"/>
          <p:cNvSpPr/>
          <p:nvPr/>
        </p:nvSpPr>
        <p:spPr>
          <a:xfrm>
            <a:off x="4320540" y="1234440"/>
            <a:ext cx="3520440" cy="3840480"/>
          </a:xfrm>
          <a:prstGeom prst="roundRect">
            <a:avLst>
              <a:gd name="adj" fmla="val 3896"/>
            </a:avLst>
          </a:prstGeom>
          <a:solidFill>
            <a:schemeClr val="bg2"/>
          </a:solidFill>
          <a:ln w="9525">
            <a:solidFill>
              <a:srgbClr val="E1E7E3"/>
            </a:solidFill>
            <a:prstDash val="solid"/>
          </a:ln>
        </p:spPr>
      </p:sp>
      <p:sp>
        <p:nvSpPr>
          <p:cNvPr id="7" name="Text 5"/>
          <p:cNvSpPr txBox="1"/>
          <p:nvPr/>
        </p:nvSpPr>
        <p:spPr>
          <a:xfrm>
            <a:off x="4594860" y="1417320"/>
            <a:ext cx="3017520" cy="457200"/>
          </a:xfrm>
          <a:prstGeom prst="rect">
            <a:avLst/>
          </a:prstGeom>
          <a:noFill/>
          <a:ln/>
        </p:spPr>
        <p:txBody>
          <a:bodyPr wrap="square" lIns="0" tIns="0" rIns="0" bIns="0" rtlCol="0" anchor="ctr"/>
          <a:lstStyle/>
          <a:p>
            <a:pPr indent="0" marL="0">
              <a:buNone/>
            </a:pPr>
            <a:r>
              <a:rPr lang="en-US" sz="1800" b="1" dirty="0">
                <a:solidFill>
                  <a:schemeClr val="tx1"/>
                </a:solidFill>
              </a:rPr>
              <a:t>iPhone and web apps</a:t>
            </a:r>
            <a:endParaRPr lang="en-US" sz="1800" dirty="0"/>
          </a:p>
        </p:txBody>
      </p:sp>
      <p:sp>
        <p:nvSpPr>
          <p:cNvPr id="8" name="Text 6"/>
          <p:cNvSpPr txBox="1"/>
          <p:nvPr/>
        </p:nvSpPr>
        <p:spPr>
          <a:xfrm>
            <a:off x="4594860" y="2011680"/>
            <a:ext cx="3017520" cy="2926080"/>
          </a:xfrm>
          <a:prstGeom prst="rect">
            <a:avLst/>
          </a:prstGeom>
          <a:noFill/>
          <a:ln/>
        </p:spPr>
        <p:txBody>
          <a:bodyPr wrap="square" lIns="0" tIns="0" rIns="0" bIns="0" rtlCol="0" anchor="t"/>
          <a:lstStyle/>
          <a:p>
            <a:pPr indent="0" marL="0">
              <a:buNone/>
            </a:pPr>
            <a:r>
              <a:rPr lang="en-US" sz="1400" b="1" dirty="0">
                <a:solidFill>
                  <a:schemeClr val="tx1"/>
                </a:solidFill>
              </a:rPr>
              <a:t>Swift 6, SwiftUI: </a:t>
            </a:r>
            <a:pPr indent="0" marL="0">
              <a:spcAft>
                <a:spcPts val="1200"/>
              </a:spcAft>
              <a:buNone/>
            </a:pPr>
            <a:r>
              <a:rPr lang="en-US" sz="1400" dirty="0">
                <a:solidFill>
                  <a:schemeClr val="tx1"/>
                </a:solidFill>
              </a:rPr>
              <a:t>feature modules in LaileKit</a:t>
            </a:r>
            <a:endParaRPr lang="en-US" sz="1400" dirty="0"/>
          </a:p>
          <a:p>
            <a:pPr indent="0" marL="0">
              <a:buNone/>
            </a:pPr>
            <a:r>
              <a:rPr lang="en-US" sz="1400" b="1" dirty="0">
                <a:solidFill>
                  <a:schemeClr val="tx1"/>
                </a:solidFill>
              </a:rPr>
              <a:t>Apple Vision, Speech: </a:t>
            </a:r>
            <a:pPr indent="0" marL="0">
              <a:spcAft>
                <a:spcPts val="1200"/>
              </a:spcAft>
              <a:buNone/>
            </a:pPr>
            <a:r>
              <a:rPr lang="en-US" sz="1400" dirty="0">
                <a:solidFill>
                  <a:schemeClr val="tx1"/>
                </a:solidFill>
              </a:rPr>
              <a:t>body pose for reps, holds and angles; spoken symptoms</a:t>
            </a:r>
            <a:endParaRPr lang="en-US" sz="1400" dirty="0"/>
          </a:p>
          <a:p>
            <a:pPr indent="0" marL="0">
              <a:buNone/>
            </a:pPr>
            <a:r>
              <a:rPr lang="en-US" sz="1400" b="1" dirty="0">
                <a:solidFill>
                  <a:schemeClr val="tx1"/>
                </a:solidFill>
              </a:rPr>
              <a:t>Web app: </a:t>
            </a:r>
            <a:pPr indent="0" marL="0">
              <a:spcAft>
                <a:spcPts val="1200"/>
              </a:spcAft>
              <a:buNone/>
            </a:pPr>
            <a:r>
              <a:rPr lang="en-US" sz="1400" dirty="0">
                <a:solidFill>
                  <a:schemeClr val="tx1"/>
                </a:solidFill>
              </a:rPr>
              <a:t>plain JavaScript, MediaPipe pose, the same API</a:t>
            </a:r>
            <a:endParaRPr lang="en-US" sz="1400" dirty="0"/>
          </a:p>
          <a:p>
            <a:pPr indent="0" marL="0">
              <a:buNone/>
            </a:pPr>
            <a:r>
              <a:rPr lang="en-US" sz="1400" b="1" dirty="0">
                <a:solidFill>
                  <a:schemeClr val="tx1"/>
                </a:solidFill>
              </a:rPr>
              <a:t>ElevenLabs: </a:t>
            </a:r>
            <a:pPr indent="0" marL="0">
              <a:spcAft>
                <a:spcPts val="1200"/>
              </a:spcAft>
              <a:buNone/>
            </a:pPr>
            <a:r>
              <a:rPr lang="en-US" sz="1400" dirty="0">
                <a:solidFill>
                  <a:schemeClr val="tx1"/>
                </a:solidFill>
              </a:rPr>
              <a:t>Lele's voice on phone and web, cached per line</a:t>
            </a:r>
            <a:endParaRPr lang="en-US" sz="1400" dirty="0"/>
          </a:p>
        </p:txBody>
      </p:sp>
      <p:sp>
        <p:nvSpPr>
          <p:cNvPr id="9" name="Column Server and shared code"/>
          <p:cNvSpPr/>
          <p:nvPr/>
        </p:nvSpPr>
        <p:spPr>
          <a:xfrm>
            <a:off x="8092440" y="1234440"/>
            <a:ext cx="3520440" cy="3840480"/>
          </a:xfrm>
          <a:prstGeom prst="roundRect">
            <a:avLst>
              <a:gd name="adj" fmla="val 3896"/>
            </a:avLst>
          </a:prstGeom>
          <a:solidFill>
            <a:schemeClr val="bg2"/>
          </a:solidFill>
          <a:ln w="9525">
            <a:solidFill>
              <a:srgbClr val="E1E7E3"/>
            </a:solidFill>
            <a:prstDash val="solid"/>
          </a:ln>
        </p:spPr>
      </p:sp>
      <p:sp>
        <p:nvSpPr>
          <p:cNvPr id="10" name="Text 8"/>
          <p:cNvSpPr txBox="1"/>
          <p:nvPr/>
        </p:nvSpPr>
        <p:spPr>
          <a:xfrm>
            <a:off x="8366760" y="1417320"/>
            <a:ext cx="3017520" cy="457200"/>
          </a:xfrm>
          <a:prstGeom prst="rect">
            <a:avLst/>
          </a:prstGeom>
          <a:noFill/>
          <a:ln/>
        </p:spPr>
        <p:txBody>
          <a:bodyPr wrap="square" lIns="0" tIns="0" rIns="0" bIns="0" rtlCol="0" anchor="ctr"/>
          <a:lstStyle/>
          <a:p>
            <a:pPr indent="0" marL="0">
              <a:buNone/>
            </a:pPr>
            <a:r>
              <a:rPr lang="en-US" sz="1800" b="1" dirty="0">
                <a:solidFill>
                  <a:schemeClr val="accent2"/>
                </a:solidFill>
              </a:rPr>
              <a:t>Server and shared code</a:t>
            </a:r>
            <a:endParaRPr lang="en-US" sz="1800" dirty="0"/>
          </a:p>
        </p:txBody>
      </p:sp>
      <p:sp>
        <p:nvSpPr>
          <p:cNvPr id="11" name="Text 9"/>
          <p:cNvSpPr txBox="1"/>
          <p:nvPr/>
        </p:nvSpPr>
        <p:spPr>
          <a:xfrm>
            <a:off x="8366760" y="2011680"/>
            <a:ext cx="3017520" cy="2926080"/>
          </a:xfrm>
          <a:prstGeom prst="rect">
            <a:avLst/>
          </a:prstGeom>
          <a:noFill/>
          <a:ln/>
        </p:spPr>
        <p:txBody>
          <a:bodyPr wrap="square" lIns="0" tIns="0" rIns="0" bIns="0" rtlCol="0" anchor="t"/>
          <a:lstStyle/>
          <a:p>
            <a:pPr indent="0" marL="0">
              <a:buNone/>
            </a:pPr>
            <a:r>
              <a:rPr lang="en-US" sz="1400" b="1" dirty="0">
                <a:solidFill>
                  <a:schemeClr val="tx1"/>
                </a:solidFill>
              </a:rPr>
              <a:t>Vapor (Swift): </a:t>
            </a:r>
            <a:pPr indent="0" marL="0">
              <a:spcAft>
                <a:spcPts val="1200"/>
              </a:spcAft>
              <a:buNone/>
            </a:pPr>
            <a:r>
              <a:rPr lang="en-US" sz="1400" dirty="0">
                <a:solidFill>
                  <a:schemeClr val="tx1"/>
                </a:solidFill>
              </a:rPr>
              <a:t>API, Leaf portal, live session view</a:t>
            </a:r>
            <a:endParaRPr lang="en-US" sz="1400" dirty="0"/>
          </a:p>
          <a:p>
            <a:pPr indent="0" marL="0">
              <a:buNone/>
            </a:pPr>
            <a:r>
              <a:rPr lang="en-US" sz="1400" b="1" dirty="0">
                <a:solidFill>
                  <a:schemeClr val="tx1"/>
                </a:solidFill>
              </a:rPr>
              <a:t>Fluent: </a:t>
            </a:r>
            <a:pPr indent="0" marL="0">
              <a:spcAft>
                <a:spcPts val="1200"/>
              </a:spcAft>
              <a:buNone/>
            </a:pPr>
            <a:r>
              <a:rPr lang="en-US" sz="1400" dirty="0">
                <a:solidFill>
                  <a:schemeClr val="tx1"/>
                </a:solidFill>
              </a:rPr>
              <a:t>SQLite, or TencentDB for PostgreSQL</a:t>
            </a:r>
            <a:endParaRPr lang="en-US" sz="1400" dirty="0"/>
          </a:p>
          <a:p>
            <a:pPr indent="0" marL="0">
              <a:buNone/>
            </a:pPr>
            <a:r>
              <a:rPr lang="en-US" sz="1400" b="1" dirty="0">
                <a:solidFill>
                  <a:schemeClr val="tx1"/>
                </a:solidFill>
              </a:rPr>
              <a:t>LaileCore: </a:t>
            </a:r>
            <a:pPr indent="0" marL="0">
              <a:spcAft>
                <a:spcPts val="1200"/>
              </a:spcAft>
              <a:buNone/>
            </a:pPr>
            <a:r>
              <a:rPr lang="en-US" sz="1400" dirty="0">
                <a:solidFill>
                  <a:schemeClr val="tx1"/>
                </a:solidFill>
              </a:rPr>
              <a:t>safety rules, programs, care notes and the session engine, shared by phone and server</a:t>
            </a:r>
            <a:endParaRPr lang="en-US" sz="1400" dirty="0"/>
          </a:p>
          <a:p>
            <a:pPr indent="0" marL="0">
              <a:buNone/>
            </a:pPr>
            <a:r>
              <a:rPr lang="en-US" sz="1400" b="1" dirty="0">
                <a:solidFill>
                  <a:schemeClr val="tx1"/>
                </a:solidFill>
              </a:rPr>
              <a:t>166 automated tests: </a:t>
            </a:r>
            <a:pPr indent="0" marL="0">
              <a:spcAft>
                <a:spcPts val="1200"/>
              </a:spcAft>
              <a:buNone/>
            </a:pPr>
            <a:r>
              <a:rPr lang="en-US" sz="1400" dirty="0">
                <a:solidFill>
                  <a:schemeClr val="tx1"/>
                </a:solidFill>
              </a:rPr>
              <a:t>127 core, 33 server, 6 web</a:t>
            </a:r>
            <a:endParaRPr lang="en-US" sz="1400" dirty="0"/>
          </a:p>
        </p:txBody>
      </p:sp>
      <p:sp>
        <p:nvSpPr>
          <p:cNvPr id="12" name="Links"/>
          <p:cNvSpPr/>
          <p:nvPr/>
        </p:nvSpPr>
        <p:spPr>
          <a:xfrm>
            <a:off x="548640" y="5349240"/>
            <a:ext cx="11064240" cy="685800"/>
          </a:xfrm>
          <a:prstGeom prst="roundRect">
            <a:avLst>
              <a:gd name="adj" fmla="val 16000"/>
            </a:avLst>
          </a:prstGeom>
          <a:solidFill>
            <a:schemeClr val="accent3"/>
          </a:solidFill>
          <a:ln w="12700">
            <a:solidFill>
              <a:schemeClr val="accent3"/>
            </a:solidFill>
            <a:prstDash val="solid"/>
          </a:ln>
        </p:spPr>
      </p:sp>
      <p:sp>
        <p:nvSpPr>
          <p:cNvPr id="13" name="Text 11"/>
          <p:cNvSpPr txBox="1"/>
          <p:nvPr/>
        </p:nvSpPr>
        <p:spPr>
          <a:xfrm>
            <a:off x="777240" y="5349240"/>
            <a:ext cx="10607040" cy="685800"/>
          </a:xfrm>
          <a:prstGeom prst="rect">
            <a:avLst/>
          </a:prstGeom>
          <a:noFill/>
          <a:ln/>
        </p:spPr>
        <p:txBody>
          <a:bodyPr wrap="square" lIns="0" tIns="0" rIns="0" bIns="0" rtlCol="0" anchor="ctr"/>
          <a:lstStyle/>
          <a:p>
            <a:pPr indent="0" marL="0">
              <a:buNone/>
            </a:pPr>
            <a:r>
              <a:rPr lang="en-US" sz="1400" b="1" dirty="0">
                <a:solidFill>
                  <a:schemeClr val="accent1"/>
                </a:solidFill>
              </a:rPr>
              <a:t>Try it: </a:t>
            </a:r>
            <a:pPr indent="0" marL="0">
              <a:buNone/>
            </a:pPr>
            <a:r>
              <a:rPr lang="en-US" sz="1400" dirty="0">
                <a:solidFill>
                  <a:schemeClr val="tx1"/>
                </a:solidFill>
              </a:rPr>
              <a:t>web app 43-156-108-79.sslip.io/app   ·   iPhone testflight.apple.com/join/WuymKzUH   ·   source github.com/LimCharles/laile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Key design trade-offs</a:t>
            </a:r>
            <a:endParaRPr lang="en-US" sz="3200" dirty="0"/>
          </a:p>
        </p:txBody>
      </p:sp>
      <p:sp>
        <p:nvSpPr>
          <p:cNvPr id="3" name="Choice 1"/>
          <p:cNvSpPr/>
          <p:nvPr/>
        </p:nvSpPr>
        <p:spPr>
          <a:xfrm>
            <a:off x="548640" y="1234440"/>
            <a:ext cx="3383280" cy="822960"/>
          </a:xfrm>
          <a:prstGeom prst="roundRect">
            <a:avLst>
              <a:gd name="adj" fmla="val 13333"/>
            </a:avLst>
          </a:prstGeom>
          <a:solidFill>
            <a:schemeClr val="accent3"/>
          </a:solidFill>
          <a:ln w="12700">
            <a:solidFill>
              <a:schemeClr val="accent3"/>
            </a:solidFill>
            <a:prstDash val="solid"/>
          </a:ln>
        </p:spPr>
      </p:sp>
      <p:sp>
        <p:nvSpPr>
          <p:cNvPr id="4" name="Text 2"/>
          <p:cNvSpPr txBox="1"/>
          <p:nvPr/>
        </p:nvSpPr>
        <p:spPr>
          <a:xfrm>
            <a:off x="731520" y="1234440"/>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Native iPhone app, web app, Swift server</a:t>
            </a:r>
            <a:endParaRPr lang="en-US" sz="1500" dirty="0"/>
          </a:p>
        </p:txBody>
      </p:sp>
      <p:sp>
        <p:nvSpPr>
          <p:cNvPr id="5" name="Text 3"/>
          <p:cNvSpPr txBox="1"/>
          <p:nvPr/>
        </p:nvSpPr>
        <p:spPr>
          <a:xfrm>
            <a:off x="4206240" y="1234440"/>
            <a:ext cx="7406640" cy="822960"/>
          </a:xfrm>
          <a:prstGeom prst="rect">
            <a:avLst/>
          </a:prstGeom>
          <a:noFill/>
          <a:ln/>
        </p:spPr>
        <p:txBody>
          <a:bodyPr wrap="square" lIns="0" tIns="0" rIns="0" bIns="0" rtlCol="0" anchor="ctr"/>
          <a:lstStyle/>
          <a:p>
            <a:pPr indent="0" marL="0">
              <a:buNone/>
            </a:pPr>
            <a:r>
              <a:rPr lang="en-US" sz="1400" dirty="0">
                <a:solidFill>
                  <a:schemeClr val="tx1"/>
                </a:solidFill>
              </a:rPr>
              <a:t>Native camera performance and one language for the shared logic. The web app covers Android and laptops; its session engine is a JavaScript port tested against the same plan.</a:t>
            </a:r>
            <a:endParaRPr lang="en-US" sz="1400" dirty="0"/>
          </a:p>
        </p:txBody>
      </p:sp>
      <p:sp>
        <p:nvSpPr>
          <p:cNvPr id="6" name="Choice 2"/>
          <p:cNvSpPr/>
          <p:nvPr/>
        </p:nvSpPr>
        <p:spPr>
          <a:xfrm>
            <a:off x="548640" y="2212848"/>
            <a:ext cx="3383280" cy="822960"/>
          </a:xfrm>
          <a:prstGeom prst="roundRect">
            <a:avLst>
              <a:gd name="adj" fmla="val 13333"/>
            </a:avLst>
          </a:prstGeom>
          <a:solidFill>
            <a:schemeClr val="accent3"/>
          </a:solidFill>
          <a:ln w="12700">
            <a:solidFill>
              <a:schemeClr val="accent3"/>
            </a:solidFill>
            <a:prstDash val="solid"/>
          </a:ln>
        </p:spPr>
      </p:sp>
      <p:sp>
        <p:nvSpPr>
          <p:cNvPr id="7" name="Text 5"/>
          <p:cNvSpPr txBox="1"/>
          <p:nvPr/>
        </p:nvSpPr>
        <p:spPr>
          <a:xfrm>
            <a:off x="731520" y="2212848"/>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Pose on the device</a:t>
            </a:r>
            <a:endParaRPr lang="en-US" sz="1500" dirty="0"/>
          </a:p>
        </p:txBody>
      </p:sp>
      <p:sp>
        <p:nvSpPr>
          <p:cNvPr id="8" name="Text 6"/>
          <p:cNvSpPr txBox="1"/>
          <p:nvPr/>
        </p:nvSpPr>
        <p:spPr>
          <a:xfrm>
            <a:off x="4206240" y="2212848"/>
            <a:ext cx="7406640" cy="822960"/>
          </a:xfrm>
          <a:prstGeom prst="rect">
            <a:avLst/>
          </a:prstGeom>
          <a:noFill/>
          <a:ln/>
        </p:spPr>
        <p:txBody>
          <a:bodyPr wrap="square" lIns="0" tIns="0" rIns="0" bIns="0" rtlCol="0" anchor="ctr"/>
          <a:lstStyle/>
          <a:p>
            <a:pPr indent="0" marL="0">
              <a:buNone/>
            </a:pPr>
            <a:r>
              <a:rPr lang="en-US" sz="1400" dirty="0">
                <a:solidFill>
                  <a:schemeClr val="tx1"/>
                </a:solidFill>
              </a:rPr>
              <a:t>No video upload, and the iPhone works offline. Joints are 2D, so angles are estimates for tracking trends, and reports say so.</a:t>
            </a:r>
            <a:endParaRPr lang="en-US" sz="1400" dirty="0"/>
          </a:p>
        </p:txBody>
      </p:sp>
      <p:sp>
        <p:nvSpPr>
          <p:cNvPr id="9" name="Choice 3"/>
          <p:cNvSpPr/>
          <p:nvPr/>
        </p:nvSpPr>
        <p:spPr>
          <a:xfrm>
            <a:off x="548640" y="3191256"/>
            <a:ext cx="3383280" cy="822960"/>
          </a:xfrm>
          <a:prstGeom prst="roundRect">
            <a:avLst>
              <a:gd name="adj" fmla="val 13333"/>
            </a:avLst>
          </a:prstGeom>
          <a:solidFill>
            <a:schemeClr val="accent3"/>
          </a:solidFill>
          <a:ln w="12700">
            <a:solidFill>
              <a:schemeClr val="accent3"/>
            </a:solidFill>
            <a:prstDash val="solid"/>
          </a:ln>
        </p:spPr>
      </p:sp>
      <p:sp>
        <p:nvSpPr>
          <p:cNvPr id="10" name="Text 8"/>
          <p:cNvSpPr txBox="1"/>
          <p:nvPr/>
        </p:nvSpPr>
        <p:spPr>
          <a:xfrm>
            <a:off x="731520" y="3191256"/>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Rules for safety, a model for talk</a:t>
            </a:r>
            <a:endParaRPr lang="en-US" sz="1500" dirty="0"/>
          </a:p>
        </p:txBody>
      </p:sp>
      <p:sp>
        <p:nvSpPr>
          <p:cNvPr id="11" name="Text 9"/>
          <p:cNvSpPr txBox="1"/>
          <p:nvPr/>
        </p:nvSpPr>
        <p:spPr>
          <a:xfrm>
            <a:off x="4206240" y="3191256"/>
            <a:ext cx="7406640" cy="822960"/>
          </a:xfrm>
          <a:prstGeom prst="rect">
            <a:avLst/>
          </a:prstGeom>
          <a:noFill/>
          <a:ln/>
        </p:spPr>
        <p:txBody>
          <a:bodyPr wrap="square" lIns="0" tIns="0" rIns="0" bIns="0" rtlCol="0" anchor="ctr"/>
          <a:lstStyle/>
          <a:p>
            <a:pPr indent="0" marL="0">
              <a:buNone/>
            </a:pPr>
            <a:r>
              <a:rPr lang="en-US" sz="1400" dirty="0">
                <a:solidFill>
                  <a:schemeClr val="tx1"/>
                </a:solidFill>
              </a:rPr>
              <a:t>Predictable, testable safety. Unusual phrasings fall back to a clarifying question instead of a guess.</a:t>
            </a:r>
            <a:endParaRPr lang="en-US" sz="1400" dirty="0"/>
          </a:p>
        </p:txBody>
      </p:sp>
      <p:sp>
        <p:nvSpPr>
          <p:cNvPr id="12" name="Choice 4"/>
          <p:cNvSpPr/>
          <p:nvPr/>
        </p:nvSpPr>
        <p:spPr>
          <a:xfrm>
            <a:off x="548640" y="4169664"/>
            <a:ext cx="3383280" cy="822960"/>
          </a:xfrm>
          <a:prstGeom prst="roundRect">
            <a:avLst>
              <a:gd name="adj" fmla="val 13333"/>
            </a:avLst>
          </a:prstGeom>
          <a:solidFill>
            <a:schemeClr val="accent3"/>
          </a:solidFill>
          <a:ln w="12700">
            <a:solidFill>
              <a:schemeClr val="accent3"/>
            </a:solidFill>
            <a:prstDash val="solid"/>
          </a:ln>
        </p:spPr>
      </p:sp>
      <p:sp>
        <p:nvSpPr>
          <p:cNvPr id="13" name="Text 11"/>
          <p:cNvSpPr txBox="1"/>
          <p:nvPr/>
        </p:nvSpPr>
        <p:spPr>
          <a:xfrm>
            <a:off x="731520" y="4169664"/>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ADP knowledge base</a:t>
            </a:r>
            <a:endParaRPr lang="en-US" sz="1500" dirty="0"/>
          </a:p>
        </p:txBody>
      </p:sp>
      <p:sp>
        <p:nvSpPr>
          <p:cNvPr id="14" name="Text 12"/>
          <p:cNvSpPr txBox="1"/>
          <p:nvPr/>
        </p:nvSpPr>
        <p:spPr>
          <a:xfrm>
            <a:off x="4206240" y="4169664"/>
            <a:ext cx="7406640" cy="822960"/>
          </a:xfrm>
          <a:prstGeom prst="rect">
            <a:avLst/>
          </a:prstGeom>
          <a:noFill/>
          <a:ln/>
        </p:spPr>
        <p:txBody>
          <a:bodyPr wrap="square" lIns="0" tIns="0" rIns="0" bIns="0" rtlCol="0" anchor="ctr"/>
          <a:lstStyle/>
          <a:p>
            <a:pPr indent="0" marL="0">
              <a:buNone/>
            </a:pPr>
            <a:r>
              <a:rPr lang="en-US" sz="1400" dirty="0">
                <a:solidFill>
                  <a:schemeClr val="tx1"/>
                </a:solidFill>
              </a:rPr>
              <a:t>Curated, reviewable content. Its answer template can override the persona, so each message restates Lele's voice and replies are tidied.</a:t>
            </a:r>
            <a:endParaRPr lang="en-US" sz="1400" dirty="0"/>
          </a:p>
        </p:txBody>
      </p:sp>
      <p:sp>
        <p:nvSpPr>
          <p:cNvPr id="15" name="Choice 5"/>
          <p:cNvSpPr/>
          <p:nvPr/>
        </p:nvSpPr>
        <p:spPr>
          <a:xfrm>
            <a:off x="548640" y="5148072"/>
            <a:ext cx="3383280" cy="822960"/>
          </a:xfrm>
          <a:prstGeom prst="roundRect">
            <a:avLst>
              <a:gd name="adj" fmla="val 13333"/>
            </a:avLst>
          </a:prstGeom>
          <a:solidFill>
            <a:schemeClr val="accent3"/>
          </a:solidFill>
          <a:ln w="12700">
            <a:solidFill>
              <a:schemeClr val="accent3"/>
            </a:solidFill>
            <a:prstDash val="solid"/>
          </a:ln>
        </p:spPr>
      </p:sp>
      <p:sp>
        <p:nvSpPr>
          <p:cNvPr id="16" name="Text 14"/>
          <p:cNvSpPr txBox="1"/>
          <p:nvPr/>
        </p:nvSpPr>
        <p:spPr>
          <a:xfrm>
            <a:off x="731520" y="5148072"/>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Server-rendered portal</a:t>
            </a:r>
            <a:endParaRPr lang="en-US" sz="1500" dirty="0"/>
          </a:p>
        </p:txBody>
      </p:sp>
      <p:sp>
        <p:nvSpPr>
          <p:cNvPr id="17" name="Text 15"/>
          <p:cNvSpPr txBox="1"/>
          <p:nvPr/>
        </p:nvSpPr>
        <p:spPr>
          <a:xfrm>
            <a:off x="4206240" y="5148072"/>
            <a:ext cx="7406640" cy="822960"/>
          </a:xfrm>
          <a:prstGeom prst="rect">
            <a:avLst/>
          </a:prstGeom>
          <a:noFill/>
          <a:ln/>
        </p:spPr>
        <p:txBody>
          <a:bodyPr wrap="square" lIns="0" tIns="0" rIns="0" bIns="0" rtlCol="0" anchor="ctr"/>
          <a:lstStyle/>
          <a:p>
            <a:pPr indent="0" marL="0">
              <a:buNone/>
            </a:pPr>
            <a:r>
              <a:rPr lang="en-US" sz="1400" dirty="0">
                <a:solidFill>
                  <a:schemeClr val="tx1"/>
                </a:solidFill>
              </a:rPr>
              <a:t>Fast to build and prints cleanly as a pre-visit report, with no second front-end stack.</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Laile">
  <a:themeElements>
    <a:clrScheme name="Laile">
      <a:dk1>
        <a:srgbClr val="17211C"/>
      </a:dk1>
      <a:lt1>
        <a:srgbClr val="FFFFFF"/>
      </a:lt1>
      <a:dk2>
        <a:srgbClr val="0F8A6A"/>
      </a:dk2>
      <a:lt2>
        <a:srgbClr val="F6F7F5"/>
      </a:lt2>
      <a:accent1>
        <a:srgbClr val="0F8A6A"/>
      </a:accent1>
      <a:accent2>
        <a:srgbClr val="E8930C"/>
      </a:accent2>
      <a:accent3>
        <a:srgbClr val="DFF3EC"/>
      </a:accent3>
      <a:accent4>
        <a:srgbClr val="5D6B63"/>
      </a:accent4>
      <a:accent5>
        <a:srgbClr val="C62828"/>
      </a:accent5>
      <a:accent6>
        <a:srgbClr val="3CC49B"/>
      </a:accent6>
      <a:hlink>
        <a:srgbClr val="0F8A6A"/>
      </a:hlink>
      <a:folHlink>
        <a:srgbClr val="0B6B52"/>
      </a:folHlink>
    </a:clrScheme>
    <a:fontScheme name="Lail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Laile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Laile architecture</dc:title>
  <dc:subject>PptxGenJS Presentation</dc:subject>
  <dc:creator>Charles Andrew Lim</dc:creator>
  <cp:lastModifiedBy>Charles Andrew Lim</cp:lastModifiedBy>
  <cp:revision>1</cp:revision>
  <dcterms:created xsi:type="dcterms:W3CDTF">2026-10-14T23:21:34Z</dcterms:created>
  <dcterms:modified xsi:type="dcterms:W3CDTF">2026-10-14T23:21:34Z</dcterms:modified>
</cp:coreProperties>
</file>